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330" r:id="rId4"/>
    <p:sldId id="328" r:id="rId5"/>
    <p:sldId id="366" r:id="rId6"/>
    <p:sldId id="346" r:id="rId7"/>
    <p:sldId id="331" r:id="rId8"/>
    <p:sldId id="347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67" r:id="rId17"/>
    <p:sldId id="369" r:id="rId18"/>
    <p:sldId id="370" r:id="rId19"/>
    <p:sldId id="368" r:id="rId20"/>
    <p:sldId id="355" r:id="rId21"/>
    <p:sldId id="356" r:id="rId22"/>
    <p:sldId id="357" r:id="rId23"/>
    <p:sldId id="358" r:id="rId24"/>
    <p:sldId id="359" r:id="rId25"/>
    <p:sldId id="360" r:id="rId26"/>
    <p:sldId id="361" r:id="rId27"/>
    <p:sldId id="362" r:id="rId28"/>
    <p:sldId id="363" r:id="rId29"/>
    <p:sldId id="364" r:id="rId30"/>
    <p:sldId id="365" r:id="rId31"/>
    <p:sldId id="372" r:id="rId32"/>
    <p:sldId id="371" r:id="rId33"/>
    <p:sldId id="327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FFC000"/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54" autoAdjust="0"/>
    <p:restoredTop sz="92413" autoAdjust="0"/>
  </p:normalViewPr>
  <p:slideViewPr>
    <p:cSldViewPr snapToGrid="0" snapToObjects="1">
      <p:cViewPr varScale="1">
        <p:scale>
          <a:sx n="77" d="100"/>
          <a:sy n="77" d="100"/>
        </p:scale>
        <p:origin x="1282" y="53"/>
      </p:cViewPr>
      <p:guideLst>
        <p:guide orient="horz" pos="214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A4466-E6DA-D94B-90E7-E6B3DA0FA6D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6FC0C2-A436-E24E-807B-ADF486009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FEAA6-4194-9547-959B-D7C2F5EE4AE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28D69-B2C2-F740-9526-71D4BADA4F7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PH" alt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28D69-B2C2-F740-9526-71D4BADA4F7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E28D69-B2C2-F740-9526-71D4BADA4F7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E28D69-B2C2-F740-9526-71D4BADA4F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65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Oscillate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aseline="0" dirty="0" smtClean="0"/>
              <a:t>       - </a:t>
            </a:r>
            <a:r>
              <a:rPr lang="en-US" dirty="0" smtClean="0"/>
              <a:t>to move repeatedly from one position to another</a:t>
            </a:r>
          </a:p>
          <a:p>
            <a:r>
              <a:rPr lang="en-US" dirty="0" smtClean="0"/>
              <a:t>       -</a:t>
            </a:r>
            <a:r>
              <a:rPr lang="en-US" baseline="0" dirty="0" smtClean="0"/>
              <a:t> </a:t>
            </a:r>
            <a:r>
              <a:rPr lang="en-US" dirty="0" smtClean="0"/>
              <a:t>to move repeatedly from side to side or up and down between two points, or to vary between two states or amounts, or feelings or opinions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Oscillator</a:t>
            </a:r>
          </a:p>
          <a:p>
            <a:r>
              <a:rPr lang="en-PH" baseline="0" dirty="0" smtClean="0"/>
              <a:t>       - </a:t>
            </a:r>
            <a:r>
              <a:rPr lang="en-US" baseline="0" dirty="0" smtClean="0"/>
              <a:t>a mechanical or electronic device that works on the principles of </a:t>
            </a:r>
            <a:r>
              <a:rPr lang="en-US" b="1" baseline="0" dirty="0" smtClean="0"/>
              <a:t>oscillation</a:t>
            </a:r>
            <a:r>
              <a:rPr lang="en-US" baseline="0" dirty="0" smtClean="0"/>
              <a:t>: a periodic fluctuation between two things based on changes in energy</a:t>
            </a:r>
          </a:p>
          <a:p>
            <a:r>
              <a:rPr lang="en-US" baseline="0" dirty="0" smtClean="0"/>
              <a:t>       - computers, clocks, watches, radios, and metal detectors are among the many devices that use oscillators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 smtClean="0"/>
              <a:t>Piezoelectric</a:t>
            </a:r>
          </a:p>
          <a:p>
            <a:r>
              <a:rPr lang="en-PH" baseline="0" dirty="0" smtClean="0"/>
              <a:t>       - </a:t>
            </a:r>
            <a:r>
              <a:rPr lang="en-US" baseline="0" dirty="0" smtClean="0"/>
              <a:t>relating to or involving electric polarization resulting from the application of mechanical stress</a:t>
            </a:r>
            <a:endParaRPr lang="en-PH" baseline="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Piezoelectricity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- the electric charge that accumulates in certain solid materials—such as crystals, certain ceramics, and biological matter such as bone, DNA, and various proteins—in response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applied mechanical stress.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-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 electricity resulting from pressure and latent heat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Piezoelectric resonator is an electronic component designed for electronic oscillators and filters.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Piezoelectric resonators are: crystal resonators (crystal oscillator); polycrystalline resonators (ceramic resonator); MEMS oscillators.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MEMS (Microelectromechanical System) resonators are small electromechanical structures that vibrate at high frequencies.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They are used for timing references, signal filtering, mass sensing, biological sensing, motion sensing, and other diverse applications.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E28D69-B2C2-F740-9526-71D4BADA4F7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70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Oscillate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aseline="0" dirty="0" smtClean="0"/>
              <a:t>       - </a:t>
            </a:r>
            <a:r>
              <a:rPr lang="en-US" dirty="0" smtClean="0"/>
              <a:t>to move repeatedly from one position to another</a:t>
            </a:r>
          </a:p>
          <a:p>
            <a:r>
              <a:rPr lang="en-US" dirty="0" smtClean="0"/>
              <a:t>       -</a:t>
            </a:r>
            <a:r>
              <a:rPr lang="en-US" baseline="0" dirty="0" smtClean="0"/>
              <a:t> </a:t>
            </a:r>
            <a:r>
              <a:rPr lang="en-US" dirty="0" smtClean="0"/>
              <a:t>to move repeatedly from side to side or up and down between two points, or to vary between two states or amounts, or feelings or opinions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Oscillator</a:t>
            </a:r>
          </a:p>
          <a:p>
            <a:r>
              <a:rPr lang="en-PH" baseline="0" dirty="0" smtClean="0"/>
              <a:t>       - </a:t>
            </a:r>
            <a:r>
              <a:rPr lang="en-US" baseline="0" dirty="0" smtClean="0"/>
              <a:t>a mechanical or electronic device that works on the principles of </a:t>
            </a:r>
            <a:r>
              <a:rPr lang="en-US" b="1" baseline="0" dirty="0" smtClean="0"/>
              <a:t>oscillation</a:t>
            </a:r>
            <a:r>
              <a:rPr lang="en-US" baseline="0" dirty="0" smtClean="0"/>
              <a:t>: a periodic fluctuation between two things based on changes in energy</a:t>
            </a:r>
          </a:p>
          <a:p>
            <a:r>
              <a:rPr lang="en-US" baseline="0" dirty="0" smtClean="0"/>
              <a:t>       - computers, clocks, watches, radios, and metal detectors are among the many devices that use oscillators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 smtClean="0"/>
              <a:t>Piezoelectric</a:t>
            </a:r>
          </a:p>
          <a:p>
            <a:r>
              <a:rPr lang="en-PH" baseline="0" dirty="0" smtClean="0"/>
              <a:t>       - </a:t>
            </a:r>
            <a:r>
              <a:rPr lang="en-US" baseline="0" dirty="0" smtClean="0"/>
              <a:t>relating to or involving electric polarization resulting from the application of mechanical stress</a:t>
            </a:r>
            <a:endParaRPr lang="en-PH" baseline="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Piezoelectricity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- the electric charge that accumulates in certain solid materials—such as crystals, certain ceramics, and biological matter such as bone, DNA, and various proteins—in response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applied mechanical stress.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-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 electricity resulting from pressure and latent heat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Piezoelectric resonator is an electronic component designed for electronic oscillators and filters.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Piezoelectric resonators are: crystal resonators (crystal oscillator); polycrystalline resonators (ceramic resonator); MEMS oscillators.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MEMS (Microelectromechanical System) resonators are small electromechanical structures that vibrate at high frequencies.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They are used for timing references, signal filtering, mass sensing, biological sensing, motion sensing, and other diverse applications.</a:t>
            </a:r>
            <a:endParaRPr lang="en-PH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E28D69-B2C2-F740-9526-71D4BADA4F7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86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PH" alt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28D69-B2C2-F740-9526-71D4BADA4F7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53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2625" y="2781000"/>
            <a:ext cx="7776000" cy="1296000"/>
          </a:xfrm>
        </p:spPr>
        <p:txBody>
          <a:bodyPr anchor="t" anchorCtr="0">
            <a:normAutofit/>
          </a:bodyPr>
          <a:lstStyle>
            <a:lvl1pPr algn="l">
              <a:defRPr sz="40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92625" y="4966334"/>
            <a:ext cx="6858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 baseline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or </a:t>
            </a:r>
            <a:r>
              <a:rPr lang="en-US" dirty="0" err="1"/>
              <a:t>SubHeader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830888"/>
            <a:ext cx="3090672" cy="5760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1114" y="2332721"/>
            <a:ext cx="36000" cy="15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935657" y="2354237"/>
            <a:ext cx="7776000" cy="398462"/>
          </a:xfrm>
        </p:spPr>
        <p:txBody>
          <a:bodyPr anchor="b" anchorCtr="0">
            <a:normAutofit/>
          </a:bodyPr>
          <a:lstStyle>
            <a:lvl1pPr>
              <a:defRPr sz="1400"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Course Code and Title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830888"/>
            <a:ext cx="3090672" cy="576072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751114" y="2332721"/>
            <a:ext cx="36000" cy="15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81C2C-ADA1-3E4E-A240-7435C45069B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15888"/>
            <a:ext cx="7886700" cy="4261077"/>
          </a:xfrm>
        </p:spPr>
        <p:txBody>
          <a:bodyPr/>
          <a:lstStyle>
            <a:lvl1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669927"/>
            <a:ext cx="7886700" cy="1060903"/>
          </a:xfrm>
        </p:spPr>
        <p:txBody>
          <a:bodyPr anchor="ctr" anchorCtr="0">
            <a:normAutofit/>
          </a:bodyPr>
          <a:lstStyle>
            <a:lvl1pPr>
              <a:defRPr sz="36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81C2C-ADA1-3E4E-A240-7435C45069B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000" b="0" i="0"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18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16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1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1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000" b="0" i="0"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18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16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1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1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669927"/>
            <a:ext cx="7886700" cy="1060903"/>
          </a:xfrm>
        </p:spPr>
        <p:txBody>
          <a:bodyPr anchor="ctr" anchorCtr="0">
            <a:normAutofit/>
          </a:bodyPr>
          <a:lstStyle>
            <a:lvl1pPr>
              <a:defRPr sz="36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521" y="6356351"/>
            <a:ext cx="1349829" cy="44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81C2C-ADA1-3E4E-A240-7435C45069B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521" y="6356351"/>
            <a:ext cx="1349829" cy="44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69600"/>
            <a:ext cx="7886700" cy="10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98289"/>
            <a:ext cx="3868340" cy="606785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latin typeface="Roboto Medium" charset="0"/>
                <a:ea typeface="Roboto Medium" charset="0"/>
                <a:cs typeface="Roboto Medium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671763"/>
            <a:ext cx="3868340" cy="35179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898287"/>
            <a:ext cx="3887391" cy="606787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latin typeface="Roboto Medium" charset="0"/>
                <a:ea typeface="Roboto Medium" charset="0"/>
                <a:cs typeface="Roboto Medium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671761"/>
            <a:ext cx="3887391" cy="351790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81C2C-ADA1-3E4E-A240-7435C45069B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latin typeface="Roboto" charset="0"/>
                <a:ea typeface="Roboto" charset="0"/>
                <a:cs typeface="Roboto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2179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1DB81C2C-ADA1-3E4E-A240-7435C45069B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669927"/>
            <a:ext cx="7886700" cy="1060903"/>
          </a:xfrm>
        </p:spPr>
        <p:txBody>
          <a:bodyPr anchor="ctr" anchorCtr="0">
            <a:normAutofit/>
          </a:bodyPr>
          <a:lstStyle>
            <a:lvl1pPr>
              <a:defRPr sz="36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521" y="6356351"/>
            <a:ext cx="1349829" cy="44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521" y="6356351"/>
            <a:ext cx="1349829" cy="44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81C2C-ADA1-3E4E-A240-7435C45069B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9841" y="987428"/>
            <a:ext cx="2949178" cy="106997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452744"/>
            <a:ext cx="2949178" cy="3416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latin typeface="Roboto" charset="0"/>
                <a:ea typeface="Roboto" charset="0"/>
                <a:cs typeface="Roboto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2179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1DB81C2C-ADA1-3E4E-A240-7435C45069B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latin typeface="Roboto" charset="0"/>
                <a:ea typeface="Roboto" charset="0"/>
                <a:cs typeface="Roboto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2179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1DB81C2C-ADA1-3E4E-A240-7435C45069B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29841" y="987428"/>
            <a:ext cx="2949178" cy="106997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452744"/>
            <a:ext cx="2949178" cy="3416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latin typeface="Roboto" charset="0"/>
                <a:ea typeface="Roboto" charset="0"/>
                <a:cs typeface="Roboto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2179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1DB81C2C-ADA1-3E4E-A240-7435C45069B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946673"/>
            <a:ext cx="1971675" cy="523029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946673"/>
            <a:ext cx="5800725" cy="52302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latin typeface="Roboto" charset="0"/>
                <a:ea typeface="Roboto" charset="0"/>
                <a:cs typeface="Roboto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2179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1DB81C2C-ADA1-3E4E-A240-7435C45069B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81C2C-ADA1-3E4E-A240-7435C45069B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2625" y="2781000"/>
            <a:ext cx="7776000" cy="1296000"/>
          </a:xfrm>
        </p:spPr>
        <p:txBody>
          <a:bodyPr anchor="t" anchorCtr="0">
            <a:normAutofit/>
          </a:bodyPr>
          <a:lstStyle>
            <a:lvl1pPr algn="l">
              <a:defRPr sz="40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92625" y="4966334"/>
            <a:ext cx="6858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 baseline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or </a:t>
            </a:r>
            <a:r>
              <a:rPr lang="en-US" dirty="0" err="1"/>
              <a:t>SubHeader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830888"/>
            <a:ext cx="3090672" cy="57607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751114" y="2332721"/>
            <a:ext cx="36000" cy="15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935657" y="2354237"/>
            <a:ext cx="7776000" cy="398462"/>
          </a:xfrm>
        </p:spPr>
        <p:txBody>
          <a:bodyPr anchor="b" anchorCtr="0">
            <a:normAutofit/>
          </a:bodyPr>
          <a:lstStyle>
            <a:lvl1pPr>
              <a:defRPr sz="1400"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Course Code and Title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000" b="0" i="0"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18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16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1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1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000" b="0" i="0"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18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16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1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1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latin typeface="Roboto" charset="0"/>
                <a:ea typeface="Roboto" charset="0"/>
                <a:cs typeface="Roboto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2179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1DB81C2C-ADA1-3E4E-A240-7435C45069B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669927"/>
            <a:ext cx="7886700" cy="1060903"/>
          </a:xfrm>
        </p:spPr>
        <p:txBody>
          <a:bodyPr anchor="ctr" anchorCtr="0">
            <a:normAutofit/>
          </a:bodyPr>
          <a:lstStyle>
            <a:lvl1pPr>
              <a:defRPr sz="36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521" y="6356351"/>
            <a:ext cx="1349829" cy="44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latin typeface="Roboto" charset="0"/>
                <a:ea typeface="Roboto" charset="0"/>
                <a:cs typeface="Roboto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2179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1DB81C2C-ADA1-3E4E-A240-7435C45069B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669927"/>
            <a:ext cx="7886700" cy="1060903"/>
          </a:xfrm>
        </p:spPr>
        <p:txBody>
          <a:bodyPr anchor="ctr" anchorCtr="0">
            <a:normAutofit/>
          </a:bodyPr>
          <a:lstStyle>
            <a:lvl1pPr>
              <a:defRPr sz="36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521" y="6356351"/>
            <a:ext cx="1349829" cy="44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latin typeface="Roboto" charset="0"/>
                <a:ea typeface="Roboto" charset="0"/>
                <a:cs typeface="Roboto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2179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1DB81C2C-ADA1-3E4E-A240-7435C45069B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29841" y="987428"/>
            <a:ext cx="2949178" cy="106997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452744"/>
            <a:ext cx="2949178" cy="3416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669600"/>
            <a:ext cx="7886700" cy="10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0" y="-3754"/>
            <a:ext cx="9144000" cy="576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71" y="77585"/>
            <a:ext cx="2217531" cy="41332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572400"/>
            <a:ext cx="9144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5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solidFill>
                  <a:schemeClr val="tx1">
                    <a:lumMod val="50000"/>
                    <a:lumOff val="50000"/>
                  </a:schemeClr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endParaRPr lang="en-US" dirty="0"/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2179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050" b="0" i="0">
                <a:solidFill>
                  <a:schemeClr val="tx1">
                    <a:lumMod val="50000"/>
                    <a:lumOff val="50000"/>
                  </a:schemeClr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1DB81C2C-ADA1-3E4E-A240-7435C45069B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521" y="6356351"/>
            <a:ext cx="1349829" cy="44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41914" y="207121"/>
            <a:ext cx="58020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-3754"/>
            <a:ext cx="9144000" cy="576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71" y="77585"/>
            <a:ext cx="2217531" cy="413327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0" y="572400"/>
            <a:ext cx="9144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521" y="6356351"/>
            <a:ext cx="1349829" cy="44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1">
              <a:lumMod val="85000"/>
              <a:lumOff val="15000"/>
            </a:schemeClr>
          </a:solidFill>
          <a:latin typeface="Roboto Medium" charset="0"/>
          <a:ea typeface="Roboto Medium" charset="0"/>
          <a:cs typeface="Roboto Medium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>
              <a:lumMod val="75000"/>
              <a:lumOff val="25000"/>
            </a:schemeClr>
          </a:solidFill>
          <a:latin typeface="Roboto Light" charset="0"/>
          <a:ea typeface="Roboto Light" charset="0"/>
          <a:cs typeface="Roboto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Roboto Light" charset="0"/>
          <a:ea typeface="Roboto Light" charset="0"/>
          <a:cs typeface="Roboto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>
              <a:lumMod val="75000"/>
              <a:lumOff val="25000"/>
            </a:schemeClr>
          </a:solidFill>
          <a:latin typeface="Roboto Light" charset="0"/>
          <a:ea typeface="Roboto Light" charset="0"/>
          <a:cs typeface="Roboto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>
              <a:lumMod val="75000"/>
              <a:lumOff val="25000"/>
            </a:schemeClr>
          </a:solidFill>
          <a:latin typeface="Roboto Light" charset="0"/>
          <a:ea typeface="Roboto Light" charset="0"/>
          <a:cs typeface="Roboto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>
              <a:lumMod val="75000"/>
              <a:lumOff val="25000"/>
            </a:schemeClr>
          </a:solidFill>
          <a:latin typeface="Roboto Light" charset="0"/>
          <a:ea typeface="Roboto Light" charset="0"/>
          <a:cs typeface="Roboto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935657" y="2985556"/>
            <a:ext cx="7776000" cy="567647"/>
          </a:xfrm>
        </p:spPr>
        <p:txBody>
          <a:bodyPr>
            <a:noAutofit/>
          </a:bodyPr>
          <a:lstStyle/>
          <a:p>
            <a:r>
              <a:rPr lang="en-US" sz="3200" dirty="0" smtClean="0"/>
              <a:t>8284A Clock Generator</a:t>
            </a:r>
            <a:r>
              <a:rPr lang="en-US" sz="3200" dirty="0"/>
              <a:t/>
            </a:r>
            <a:br>
              <a:rPr lang="en-US" sz="3200" dirty="0"/>
            </a:br>
            <a:endParaRPr lang="en-PH" altLang="en-US" sz="32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CpE </a:t>
            </a:r>
            <a:r>
              <a:rPr lang="en-PH" altLang="en-US" sz="2400" dirty="0" smtClean="0"/>
              <a:t>3104</a:t>
            </a:r>
            <a:r>
              <a:rPr lang="en-US" sz="2400" dirty="0" smtClean="0"/>
              <a:t> </a:t>
            </a:r>
            <a:r>
              <a:rPr lang="en-US" sz="2400" dirty="0"/>
              <a:t>– </a:t>
            </a:r>
            <a:r>
              <a:rPr lang="en-PH" altLang="en-US" sz="2400" dirty="0" smtClean="0"/>
              <a:t>Microprocessors</a:t>
            </a:r>
            <a:endParaRPr lang="en-PH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033669" y="4798142"/>
            <a:ext cx="7677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smtClean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Unit 5: MEMORY INTERFACING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© 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2025</a:t>
            </a:r>
            <a:endParaRPr lang="en-US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84775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3200" b="1" dirty="0" smtClean="0">
                <a:solidFill>
                  <a:srgbClr val="000066"/>
                </a:solidFill>
                <a:latin typeface="Roboto"/>
              </a:rPr>
              <a:t>Clock Generator</a:t>
            </a:r>
            <a:endParaRPr lang="en-PH" sz="3200" b="1" dirty="0">
              <a:solidFill>
                <a:srgbClr val="000066"/>
              </a:solidFill>
              <a:latin typeface="Robo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6916" y="1924923"/>
            <a:ext cx="7610167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sz="2400" dirty="0">
                <a:solidFill>
                  <a:srgbClr val="000066"/>
                </a:solidFill>
                <a:latin typeface="Roboto"/>
              </a:rPr>
              <a:t>It is a </a:t>
            </a:r>
            <a:r>
              <a:rPr lang="en-PH" sz="2400" i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circuit or an electronic oscillator</a:t>
            </a:r>
            <a:r>
              <a:rPr lang="en-PH" sz="2400" dirty="0">
                <a:solidFill>
                  <a:srgbClr val="000066"/>
                </a:solidFill>
                <a:latin typeface="Roboto"/>
              </a:rPr>
              <a:t> that </a:t>
            </a:r>
            <a:r>
              <a:rPr lang="en-PH" sz="2400" i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produces a timing signal</a:t>
            </a:r>
            <a:r>
              <a:rPr lang="en-PH" sz="2400" dirty="0">
                <a:solidFill>
                  <a:srgbClr val="000066"/>
                </a:solidFill>
                <a:latin typeface="Roboto"/>
              </a:rPr>
              <a:t> (</a:t>
            </a:r>
            <a:r>
              <a:rPr lang="en-PH" sz="2400" b="1" dirty="0">
                <a:solidFill>
                  <a:srgbClr val="000066"/>
                </a:solidFill>
                <a:latin typeface="Roboto"/>
              </a:rPr>
              <a:t>known as a clock signal</a:t>
            </a:r>
            <a:r>
              <a:rPr lang="en-PH" sz="2400" dirty="0">
                <a:solidFill>
                  <a:srgbClr val="000066"/>
                </a:solidFill>
                <a:latin typeface="Roboto"/>
              </a:rPr>
              <a:t>) for </a:t>
            </a:r>
            <a:r>
              <a:rPr lang="en-PH" sz="2400" i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use in synchronizing a circuit's operation</a:t>
            </a:r>
            <a:r>
              <a:rPr lang="en-PH" sz="2400" dirty="0">
                <a:solidFill>
                  <a:srgbClr val="000066"/>
                </a:solidFill>
                <a:latin typeface="Roboto"/>
              </a:rPr>
              <a:t>. </a:t>
            </a:r>
            <a:endParaRPr lang="en-PH" sz="2400" dirty="0"/>
          </a:p>
        </p:txBody>
      </p:sp>
      <p:sp>
        <p:nvSpPr>
          <p:cNvPr id="7" name="Rectangle 6"/>
          <p:cNvSpPr/>
          <p:nvPr/>
        </p:nvSpPr>
        <p:spPr>
          <a:xfrm>
            <a:off x="766915" y="3499093"/>
            <a:ext cx="7610167" cy="8309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65113" indent="-265113" algn="just"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sz="2400" dirty="0">
                <a:solidFill>
                  <a:srgbClr val="000066"/>
                </a:solidFill>
                <a:latin typeface="Roboto"/>
              </a:rPr>
              <a:t>The signal can range from a simple symmetrical square wave to more complex arrangements. </a:t>
            </a:r>
          </a:p>
        </p:txBody>
      </p:sp>
      <p:sp>
        <p:nvSpPr>
          <p:cNvPr id="9" name="Rectangle 8"/>
          <p:cNvSpPr/>
          <p:nvPr/>
        </p:nvSpPr>
        <p:spPr>
          <a:xfrm>
            <a:off x="766916" y="4703932"/>
            <a:ext cx="7610166" cy="8309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65113" indent="-265113" algn="just"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sz="2400" dirty="0">
                <a:solidFill>
                  <a:srgbClr val="000066"/>
                </a:solidFill>
                <a:latin typeface="Roboto"/>
              </a:rPr>
              <a:t>The basic parts that all clock generators share are a resonant circuit and an amplifier.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84775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3200" b="1" dirty="0" smtClean="0">
                <a:solidFill>
                  <a:srgbClr val="000066"/>
                </a:solidFill>
                <a:latin typeface="Roboto"/>
              </a:rPr>
              <a:t>Clock</a:t>
            </a:r>
            <a:endParaRPr lang="en-PH" sz="3200" b="1" dirty="0">
              <a:solidFill>
                <a:srgbClr val="000066"/>
              </a:solidFill>
              <a:latin typeface="Roboto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4684" y="1952679"/>
            <a:ext cx="4242619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65113" indent="-265113" algn="just" fontAlgn="auto">
              <a:spcAft>
                <a:spcPts val="0"/>
              </a:spcAft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000066"/>
                </a:solidFill>
                <a:latin typeface="Roboto"/>
                <a:cs typeface="Times New Roman" pitchFamily="18" charset="0"/>
              </a:rPr>
              <a:t>It is a particular type of signal that oscillates between a high and a low state.</a:t>
            </a:r>
          </a:p>
        </p:txBody>
      </p:sp>
      <p:pic>
        <p:nvPicPr>
          <p:cNvPr id="5" name="Picture 4" descr="images (4).jpg"/>
          <p:cNvPicPr>
            <a:picLocks/>
          </p:cNvPicPr>
          <p:nvPr/>
        </p:nvPicPr>
        <p:blipFill>
          <a:blip r:embed="rId3" cstate="print">
            <a:grayscl/>
          </a:blip>
          <a:stretch>
            <a:fillRect/>
          </a:stretch>
        </p:blipFill>
        <p:spPr>
          <a:xfrm>
            <a:off x="5567517" y="1952679"/>
            <a:ext cx="2971800" cy="2133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  <a:reflection blurRad="12700" stA="38000" endPos="28000" dist="5000" dir="5400000" sy="-100000" algn="bl" rotWithShape="0"/>
          </a:effectLst>
        </p:spPr>
      </p:pic>
      <p:sp>
        <p:nvSpPr>
          <p:cNvPr id="3" name="Rectangle 2"/>
          <p:cNvSpPr/>
          <p:nvPr/>
        </p:nvSpPr>
        <p:spPr>
          <a:xfrm>
            <a:off x="604684" y="3116783"/>
            <a:ext cx="4242619" cy="19389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65113" indent="-265113" algn="just"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sz="2000" dirty="0">
                <a:solidFill>
                  <a:srgbClr val="000066"/>
                </a:solidFill>
                <a:latin typeface="Roboto"/>
              </a:rPr>
              <a:t>To find the </a:t>
            </a:r>
            <a:r>
              <a:rPr lang="en-PH" sz="2000" i="1" dirty="0" smtClean="0">
                <a:solidFill>
                  <a:srgbClr val="000066"/>
                </a:solidFill>
                <a:latin typeface="Roboto"/>
              </a:rPr>
              <a:t>frequency</a:t>
            </a:r>
            <a:r>
              <a:rPr lang="en-PH" sz="2000" dirty="0" smtClean="0">
                <a:solidFill>
                  <a:srgbClr val="000066"/>
                </a:solidFill>
                <a:latin typeface="Roboto"/>
              </a:rPr>
              <a:t> </a:t>
            </a:r>
            <a:r>
              <a:rPr lang="en-PH" sz="2000" b="1" i="1" dirty="0" smtClean="0">
                <a:solidFill>
                  <a:srgbClr val="000066"/>
                </a:solidFill>
                <a:latin typeface="Roboto"/>
              </a:rPr>
              <a:t>f</a:t>
            </a:r>
            <a:r>
              <a:rPr lang="en-PH" sz="2000" dirty="0" smtClean="0">
                <a:solidFill>
                  <a:srgbClr val="000066"/>
                </a:solidFill>
                <a:latin typeface="Roboto"/>
              </a:rPr>
              <a:t> </a:t>
            </a:r>
            <a:r>
              <a:rPr lang="en-PH" sz="2000" dirty="0">
                <a:solidFill>
                  <a:srgbClr val="000066"/>
                </a:solidFill>
                <a:latin typeface="Roboto"/>
              </a:rPr>
              <a:t>of a clock </a:t>
            </a:r>
            <a:r>
              <a:rPr lang="en-PH" sz="2000" dirty="0" smtClean="0">
                <a:solidFill>
                  <a:srgbClr val="000066"/>
                </a:solidFill>
                <a:latin typeface="Roboto"/>
              </a:rPr>
              <a:t>signal, </a:t>
            </a:r>
            <a:endParaRPr lang="en-PH" sz="2000" dirty="0">
              <a:solidFill>
                <a:srgbClr val="000066"/>
              </a:solidFill>
              <a:latin typeface="Roboto"/>
            </a:endParaRPr>
          </a:p>
          <a:p>
            <a:pPr algn="just"/>
            <a:endParaRPr lang="en-PH" sz="2000" dirty="0">
              <a:solidFill>
                <a:srgbClr val="000066"/>
              </a:solidFill>
              <a:latin typeface="Roboto"/>
            </a:endParaRPr>
          </a:p>
          <a:p>
            <a:pPr indent="1071563" algn="just"/>
            <a:r>
              <a:rPr lang="en-PH" sz="2000" b="1" dirty="0">
                <a:solidFill>
                  <a:srgbClr val="000066"/>
                </a:solidFill>
                <a:latin typeface="Roboto"/>
              </a:rPr>
              <a:t>f = </a:t>
            </a:r>
            <a:r>
              <a:rPr lang="en-PH" sz="2000" b="1" dirty="0" smtClean="0">
                <a:solidFill>
                  <a:srgbClr val="000066"/>
                </a:solidFill>
                <a:latin typeface="Roboto"/>
              </a:rPr>
              <a:t>1/p</a:t>
            </a:r>
          </a:p>
          <a:p>
            <a:pPr indent="1071563" algn="just"/>
            <a:endParaRPr lang="en-PH" sz="2000" dirty="0">
              <a:solidFill>
                <a:srgbClr val="000066"/>
              </a:solidFill>
              <a:latin typeface="Roboto"/>
            </a:endParaRPr>
          </a:p>
          <a:p>
            <a:pPr indent="717550" algn="just"/>
            <a:r>
              <a:rPr lang="en-PH" sz="2000" dirty="0">
                <a:solidFill>
                  <a:srgbClr val="000066"/>
                </a:solidFill>
                <a:latin typeface="Roboto"/>
              </a:rPr>
              <a:t>where: </a:t>
            </a:r>
            <a:r>
              <a:rPr lang="en-PH" sz="2000" b="1" i="1" dirty="0" smtClean="0">
                <a:solidFill>
                  <a:srgbClr val="000066"/>
                </a:solidFill>
                <a:latin typeface="Roboto"/>
              </a:rPr>
              <a:t>p</a:t>
            </a:r>
            <a:r>
              <a:rPr lang="en-PH" sz="2000" dirty="0" smtClean="0">
                <a:solidFill>
                  <a:srgbClr val="000066"/>
                </a:solidFill>
                <a:latin typeface="Roboto"/>
              </a:rPr>
              <a:t> </a:t>
            </a:r>
            <a:r>
              <a:rPr lang="en-PH" sz="2000" dirty="0">
                <a:solidFill>
                  <a:srgbClr val="000066"/>
                </a:solidFill>
                <a:latin typeface="Roboto"/>
              </a:rPr>
              <a:t>is period</a:t>
            </a:r>
          </a:p>
        </p:txBody>
      </p:sp>
    </p:spTree>
    <p:extLst>
      <p:ext uri="{BB962C8B-B14F-4D97-AF65-F5344CB8AC3E}">
        <p14:creationId xmlns:p14="http://schemas.microsoft.com/office/powerpoint/2010/main" val="218713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84775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3200" b="1" dirty="0" smtClean="0">
                <a:solidFill>
                  <a:srgbClr val="000066"/>
                </a:solidFill>
                <a:latin typeface="Roboto"/>
              </a:rPr>
              <a:t>Applications of Clock Generator</a:t>
            </a:r>
            <a:endParaRPr lang="en-PH" sz="3200" b="1" dirty="0">
              <a:solidFill>
                <a:srgbClr val="000066"/>
              </a:solidFill>
              <a:latin typeface="Robo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52168" y="1809407"/>
            <a:ext cx="7639664" cy="71508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176213" indent="-176213" algn="just"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dirty="0" smtClean="0">
                <a:solidFill>
                  <a:srgbClr val="000066"/>
                </a:solidFill>
                <a:latin typeface="Roboto"/>
              </a:rPr>
              <a:t>The </a:t>
            </a:r>
            <a:r>
              <a:rPr lang="en-PH" dirty="0">
                <a:solidFill>
                  <a:srgbClr val="000066"/>
                </a:solidFill>
                <a:latin typeface="Roboto"/>
              </a:rPr>
              <a:t>clock signal in a microprocessor allows synchronization of several components of the microprocessor.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2168" y="2711580"/>
            <a:ext cx="7639664" cy="102155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176213" indent="-176213" algn="just"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dirty="0">
                <a:solidFill>
                  <a:srgbClr val="000066"/>
                </a:solidFill>
                <a:latin typeface="Roboto"/>
              </a:rPr>
              <a:t>The time base for synchronization of the internal and external operations of the microprocessor in a microcomputer system is provided by the clock (CLK) input signal</a:t>
            </a:r>
            <a:r>
              <a:rPr lang="en-PH" dirty="0" smtClean="0">
                <a:solidFill>
                  <a:srgbClr val="000066"/>
                </a:solidFill>
                <a:latin typeface="Roboto"/>
              </a:rPr>
              <a:t>.</a:t>
            </a:r>
            <a:endParaRPr lang="en-PH" dirty="0">
              <a:solidFill>
                <a:srgbClr val="000066"/>
              </a:solidFill>
              <a:latin typeface="Roboto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52168" y="3920220"/>
            <a:ext cx="7639664" cy="102155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dirty="0">
                <a:solidFill>
                  <a:srgbClr val="000066"/>
                </a:solidFill>
                <a:latin typeface="Roboto"/>
              </a:rPr>
              <a:t>The correctness of the computation of the microprocessor depends upon the efficient and balanced distribution of the clock </a:t>
            </a:r>
            <a:r>
              <a:rPr lang="en-PH" dirty="0" smtClean="0">
                <a:solidFill>
                  <a:srgbClr val="000066"/>
                </a:solidFill>
                <a:latin typeface="Roboto"/>
              </a:rPr>
              <a:t>signal (the </a:t>
            </a:r>
            <a:r>
              <a:rPr lang="en-PH" dirty="0">
                <a:solidFill>
                  <a:srgbClr val="000066"/>
                </a:solidFill>
                <a:latin typeface="Roboto"/>
              </a:rPr>
              <a:t>clock generator generates the clock </a:t>
            </a:r>
            <a:r>
              <a:rPr lang="en-PH" dirty="0" smtClean="0">
                <a:solidFill>
                  <a:srgbClr val="000066"/>
                </a:solidFill>
                <a:latin typeface="Roboto"/>
              </a:rPr>
              <a:t>signal).</a:t>
            </a:r>
            <a:endParaRPr lang="en-PH" dirty="0">
              <a:solidFill>
                <a:srgbClr val="000066"/>
              </a:solidFill>
              <a:latin typeface="Roboto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52168" y="5128860"/>
            <a:ext cx="7639664" cy="71508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dirty="0">
                <a:solidFill>
                  <a:srgbClr val="000066"/>
                </a:solidFill>
                <a:latin typeface="Roboto"/>
              </a:rPr>
              <a:t>The clock also provides the READY signal for the insertion of wait states into the CPU bus cycle.</a:t>
            </a:r>
          </a:p>
        </p:txBody>
      </p:sp>
    </p:spTree>
    <p:extLst>
      <p:ext uri="{BB962C8B-B14F-4D97-AF65-F5344CB8AC3E}">
        <p14:creationId xmlns:p14="http://schemas.microsoft.com/office/powerpoint/2010/main" val="71177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93174" y="1766840"/>
            <a:ext cx="7757652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sz="2400" dirty="0">
                <a:solidFill>
                  <a:srgbClr val="000066"/>
                </a:solidFill>
                <a:latin typeface="Roboto"/>
              </a:rPr>
              <a:t>During </a:t>
            </a:r>
            <a:r>
              <a:rPr lang="en-PH" sz="2400" i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fetch and execute instructions</a:t>
            </a:r>
            <a:r>
              <a:rPr lang="en-PH" sz="2400" dirty="0">
                <a:solidFill>
                  <a:srgbClr val="000066"/>
                </a:solidFill>
                <a:latin typeface="Roboto"/>
              </a:rPr>
              <a:t>, the </a:t>
            </a:r>
            <a:r>
              <a:rPr lang="en-PH" sz="2400" dirty="0" smtClean="0">
                <a:solidFill>
                  <a:srgbClr val="000066"/>
                </a:solidFill>
                <a:latin typeface="Roboto"/>
              </a:rPr>
              <a:t>8086/8088 </a:t>
            </a:r>
            <a:r>
              <a:rPr lang="en-PH" sz="2400" dirty="0">
                <a:solidFill>
                  <a:srgbClr val="000066"/>
                </a:solidFill>
                <a:latin typeface="Roboto"/>
              </a:rPr>
              <a:t>processors require clock pulse which has about </a:t>
            </a:r>
            <a:r>
              <a:rPr lang="en-PH" sz="2400" i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10 ns</a:t>
            </a:r>
            <a:r>
              <a:rPr lang="en-PH" sz="2400" dirty="0">
                <a:solidFill>
                  <a:srgbClr val="000066"/>
                </a:solidFill>
                <a:latin typeface="Roboto"/>
              </a:rPr>
              <a:t> rise and fall times. </a:t>
            </a:r>
            <a:endParaRPr lang="en-PH" sz="2400" dirty="0" smtClean="0">
              <a:solidFill>
                <a:srgbClr val="000066"/>
              </a:solidFill>
              <a:latin typeface="Robo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09603"/>
            <a:ext cx="9144000" cy="584775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3200" b="1" dirty="0" smtClean="0">
                <a:solidFill>
                  <a:srgbClr val="000066"/>
                </a:solidFill>
                <a:latin typeface="Roboto"/>
              </a:rPr>
              <a:t>8284A Clock Generator</a:t>
            </a:r>
            <a:endParaRPr lang="en-PH" sz="3200" b="1" dirty="0">
              <a:solidFill>
                <a:srgbClr val="000066"/>
              </a:solidFill>
              <a:latin typeface="Robot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3174" y="3347180"/>
            <a:ext cx="7757652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sz="2400" dirty="0" smtClean="0">
                <a:solidFill>
                  <a:srgbClr val="000066"/>
                </a:solidFill>
                <a:latin typeface="Roboto"/>
              </a:rPr>
              <a:t>The </a:t>
            </a:r>
            <a:r>
              <a:rPr lang="en-PH" sz="2400" i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logic 0 level</a:t>
            </a:r>
            <a:r>
              <a:rPr lang="en-PH" sz="2400" i="1" dirty="0">
                <a:solidFill>
                  <a:srgbClr val="000066"/>
                </a:solidFill>
                <a:latin typeface="Roboto"/>
              </a:rPr>
              <a:t> of the clock is </a:t>
            </a:r>
            <a:r>
              <a:rPr lang="en-PH" sz="2400" b="1" i="1" dirty="0">
                <a:solidFill>
                  <a:srgbClr val="000066"/>
                </a:solidFill>
                <a:latin typeface="Roboto"/>
              </a:rPr>
              <a:t>0.5 V to 0.6 V</a:t>
            </a:r>
            <a:r>
              <a:rPr lang="en-PH" sz="2400" dirty="0">
                <a:solidFill>
                  <a:srgbClr val="000066"/>
                </a:solidFill>
                <a:latin typeface="Roboto"/>
              </a:rPr>
              <a:t>, </a:t>
            </a:r>
            <a:r>
              <a:rPr lang="en-PH" sz="2400" i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logic-1 level</a:t>
            </a:r>
            <a:r>
              <a:rPr lang="en-PH" sz="2400" dirty="0">
                <a:solidFill>
                  <a:srgbClr val="000066"/>
                </a:solidFill>
                <a:latin typeface="Roboto"/>
              </a:rPr>
              <a:t> is about </a:t>
            </a:r>
            <a:r>
              <a:rPr lang="en-PH" sz="2400" b="1" dirty="0">
                <a:solidFill>
                  <a:srgbClr val="000066"/>
                </a:solidFill>
                <a:latin typeface="Roboto"/>
              </a:rPr>
              <a:t>3.9 V to 5 V</a:t>
            </a:r>
            <a:r>
              <a:rPr lang="en-PH" sz="2400" dirty="0">
                <a:solidFill>
                  <a:srgbClr val="000066"/>
                </a:solidFill>
                <a:latin typeface="Roboto"/>
              </a:rPr>
              <a:t> and the </a:t>
            </a:r>
            <a:r>
              <a:rPr lang="en-PH" sz="2400" i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clock duty cycle is about 33%</a:t>
            </a:r>
            <a:r>
              <a:rPr lang="en-PH" sz="2400" dirty="0">
                <a:solidFill>
                  <a:srgbClr val="000066"/>
                </a:solidFill>
                <a:latin typeface="Roboto"/>
              </a:rPr>
              <a:t>. </a:t>
            </a:r>
            <a:endParaRPr lang="en-PH" sz="2400" dirty="0" smtClean="0">
              <a:solidFill>
                <a:srgbClr val="000066"/>
              </a:solidFill>
              <a:latin typeface="Robot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3174" y="4927520"/>
            <a:ext cx="7757652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sz="2400" dirty="0" smtClean="0">
                <a:solidFill>
                  <a:srgbClr val="000066"/>
                </a:solidFill>
                <a:latin typeface="Roboto"/>
              </a:rPr>
              <a:t>The </a:t>
            </a:r>
            <a:r>
              <a:rPr lang="en-PH" sz="2400" i="1" dirty="0" smtClean="0">
                <a:solidFill>
                  <a:schemeClr val="accent2">
                    <a:lumMod val="50000"/>
                  </a:schemeClr>
                </a:solidFill>
                <a:latin typeface="Roboto"/>
              </a:rPr>
              <a:t>8086/8088 </a:t>
            </a:r>
            <a:r>
              <a:rPr lang="en-PH" sz="2400" i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processor</a:t>
            </a:r>
            <a:r>
              <a:rPr lang="en-PH" sz="2400" dirty="0">
                <a:solidFill>
                  <a:srgbClr val="000066"/>
                </a:solidFill>
                <a:latin typeface="Roboto"/>
              </a:rPr>
              <a:t> has </a:t>
            </a:r>
            <a:r>
              <a:rPr lang="en-PH" sz="2400" b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no clock generator inside the </a:t>
            </a:r>
            <a:r>
              <a:rPr lang="en-PH" sz="2400" b="1" dirty="0" smtClean="0">
                <a:solidFill>
                  <a:schemeClr val="accent2">
                    <a:lumMod val="50000"/>
                  </a:schemeClr>
                </a:solidFill>
                <a:latin typeface="Roboto"/>
              </a:rPr>
              <a:t>chip</a:t>
            </a:r>
            <a:r>
              <a:rPr lang="en-PH" sz="2400" dirty="0" smtClean="0">
                <a:solidFill>
                  <a:srgbClr val="000066"/>
                </a:solidFill>
                <a:latin typeface="Roboto"/>
              </a:rPr>
              <a:t>, so</a:t>
            </a:r>
            <a:r>
              <a:rPr lang="en-PH" sz="2400" dirty="0">
                <a:solidFill>
                  <a:srgbClr val="000066"/>
                </a:solidFill>
                <a:latin typeface="Roboto"/>
              </a:rPr>
              <a:t>, an </a:t>
            </a:r>
            <a:r>
              <a:rPr lang="en-PH" sz="2400" i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external clock generator IC </a:t>
            </a:r>
            <a:r>
              <a:rPr lang="en-PH" sz="2400" dirty="0">
                <a:solidFill>
                  <a:srgbClr val="000066"/>
                </a:solidFill>
                <a:latin typeface="Roboto"/>
              </a:rPr>
              <a:t>must be connected with the processor. </a:t>
            </a:r>
            <a:endParaRPr lang="en-PH" sz="2400" dirty="0" smtClean="0">
              <a:solidFill>
                <a:srgbClr val="000066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30985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84775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3200" b="1" dirty="0" smtClean="0">
                <a:solidFill>
                  <a:srgbClr val="000066"/>
                </a:solidFill>
                <a:latin typeface="Roboto"/>
              </a:rPr>
              <a:t>8284A Clock Generator</a:t>
            </a:r>
            <a:endParaRPr lang="en-PH" sz="3200" b="1" dirty="0">
              <a:solidFill>
                <a:srgbClr val="000066"/>
              </a:solidFill>
              <a:latin typeface="Robot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5130" y="1934101"/>
            <a:ext cx="8133735" cy="9787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0000"/>
              </a:lnSpc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sz="2400" dirty="0">
                <a:solidFill>
                  <a:srgbClr val="000066"/>
                </a:solidFill>
                <a:latin typeface="Roboto"/>
              </a:rPr>
              <a:t>It is an integrated circuit (IC) that is </a:t>
            </a:r>
            <a:r>
              <a:rPr lang="en-PH" sz="2400" i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designed specifically for use</a:t>
            </a:r>
            <a:r>
              <a:rPr lang="en-PH" sz="2400" dirty="0">
                <a:solidFill>
                  <a:srgbClr val="000066"/>
                </a:solidFill>
                <a:latin typeface="Roboto"/>
              </a:rPr>
              <a:t> with the </a:t>
            </a:r>
            <a:r>
              <a:rPr lang="en-PH" sz="2400" i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8086/8088 microprocessor</a:t>
            </a:r>
            <a:r>
              <a:rPr lang="en-PH" sz="2400" dirty="0" smtClean="0">
                <a:solidFill>
                  <a:srgbClr val="000066"/>
                </a:solidFill>
                <a:latin typeface="Roboto"/>
              </a:rPr>
              <a:t>.</a:t>
            </a:r>
            <a:endParaRPr lang="en-PH" sz="2400" dirty="0">
              <a:solidFill>
                <a:srgbClr val="000066"/>
              </a:solidFill>
              <a:latin typeface="Roboto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5130" y="3246566"/>
            <a:ext cx="8133735" cy="20128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sz="2400" dirty="0">
                <a:solidFill>
                  <a:srgbClr val="000066"/>
                </a:solidFill>
                <a:latin typeface="Roboto"/>
              </a:rPr>
              <a:t>Basic functions:</a:t>
            </a:r>
          </a:p>
          <a:p>
            <a:pPr marL="628650" indent="-274638">
              <a:lnSpc>
                <a:spcPct val="120000"/>
              </a:lnSpc>
              <a:buClr>
                <a:schemeClr val="accent2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PH" sz="2000" dirty="0">
                <a:solidFill>
                  <a:srgbClr val="000066"/>
                </a:solidFill>
                <a:latin typeface="Roboto"/>
              </a:rPr>
              <a:t>Clock </a:t>
            </a:r>
            <a:r>
              <a:rPr lang="en-PH" sz="2000" dirty="0" smtClean="0">
                <a:solidFill>
                  <a:srgbClr val="000066"/>
                </a:solidFill>
                <a:latin typeface="Roboto"/>
              </a:rPr>
              <a:t>generation</a:t>
            </a:r>
            <a:endParaRPr lang="en-PH" sz="2000" dirty="0">
              <a:solidFill>
                <a:srgbClr val="000066"/>
              </a:solidFill>
              <a:latin typeface="Roboto"/>
            </a:endParaRPr>
          </a:p>
          <a:p>
            <a:pPr marL="628650" indent="-274638">
              <a:lnSpc>
                <a:spcPct val="120000"/>
              </a:lnSpc>
              <a:buClr>
                <a:schemeClr val="accent2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PH" sz="2000" dirty="0">
                <a:solidFill>
                  <a:srgbClr val="000066"/>
                </a:solidFill>
                <a:latin typeface="Roboto"/>
              </a:rPr>
              <a:t>RESET </a:t>
            </a:r>
            <a:r>
              <a:rPr lang="en-PH" sz="2000" dirty="0" smtClean="0">
                <a:solidFill>
                  <a:srgbClr val="000066"/>
                </a:solidFill>
                <a:latin typeface="Roboto"/>
              </a:rPr>
              <a:t>synchronization</a:t>
            </a:r>
            <a:endParaRPr lang="en-PH" sz="2000" dirty="0">
              <a:solidFill>
                <a:srgbClr val="000066"/>
              </a:solidFill>
              <a:latin typeface="Roboto"/>
            </a:endParaRPr>
          </a:p>
          <a:p>
            <a:pPr marL="628650" indent="-274638">
              <a:lnSpc>
                <a:spcPct val="120000"/>
              </a:lnSpc>
              <a:buClr>
                <a:schemeClr val="accent2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PH" sz="2000" dirty="0">
                <a:solidFill>
                  <a:srgbClr val="000066"/>
                </a:solidFill>
                <a:latin typeface="Roboto"/>
              </a:rPr>
              <a:t>READY </a:t>
            </a:r>
            <a:r>
              <a:rPr lang="en-PH" sz="2000" dirty="0" smtClean="0">
                <a:solidFill>
                  <a:srgbClr val="000066"/>
                </a:solidFill>
                <a:latin typeface="Roboto"/>
              </a:rPr>
              <a:t>synchronization</a:t>
            </a:r>
            <a:endParaRPr lang="en-PH" sz="2000" dirty="0">
              <a:solidFill>
                <a:srgbClr val="000066"/>
              </a:solidFill>
              <a:latin typeface="Roboto"/>
            </a:endParaRPr>
          </a:p>
          <a:p>
            <a:pPr marL="628650" indent="-274638">
              <a:lnSpc>
                <a:spcPct val="120000"/>
              </a:lnSpc>
              <a:buClr>
                <a:schemeClr val="accent2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PH" sz="2000" dirty="0" smtClean="0">
                <a:solidFill>
                  <a:srgbClr val="000066"/>
                </a:solidFill>
                <a:latin typeface="Roboto"/>
              </a:rPr>
              <a:t>TTL level peripheral clock signal</a:t>
            </a:r>
            <a:endParaRPr lang="en-PH" sz="2000" dirty="0">
              <a:solidFill>
                <a:srgbClr val="000066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279827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8284A Clock Generator Pin Configuration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598708" y="1629695"/>
            <a:ext cx="3946584" cy="4500000"/>
            <a:chOff x="540611" y="1531372"/>
            <a:chExt cx="3946584" cy="450000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0611" y="1531372"/>
              <a:ext cx="3946584" cy="4500000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2277929" y="3042708"/>
              <a:ext cx="471948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PH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oboto"/>
                </a:rPr>
                <a:t>8</a:t>
              </a:r>
            </a:p>
            <a:p>
              <a:pPr algn="ctr"/>
              <a:r>
                <a:rPr lang="en-PH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oboto"/>
                </a:rPr>
                <a:t>2</a:t>
              </a:r>
            </a:p>
            <a:p>
              <a:pPr algn="ctr"/>
              <a:r>
                <a:rPr lang="en-PH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oboto"/>
                </a:rPr>
                <a:t>8</a:t>
              </a:r>
            </a:p>
            <a:p>
              <a:pPr algn="ctr"/>
              <a:r>
                <a:rPr lang="en-PH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oboto"/>
                </a:rPr>
                <a:t>4</a:t>
              </a:r>
            </a:p>
            <a:p>
              <a:pPr algn="ctr"/>
              <a:r>
                <a:rPr lang="en-PH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oboto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9923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8284A Internal Diagram/Logic Circuit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pic>
        <p:nvPicPr>
          <p:cNvPr id="1026" name="Picture 2" descr="No description available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1574"/>
          <a:stretch/>
        </p:blipFill>
        <p:spPr bwMode="auto">
          <a:xfrm>
            <a:off x="445798" y="1642451"/>
            <a:ext cx="8252403" cy="45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633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34064" y="2674377"/>
            <a:ext cx="7207045" cy="1431429"/>
          </a:xfrm>
          <a:prstGeom prst="horizontalScroll">
            <a:avLst/>
          </a:prstGeom>
          <a:solidFill>
            <a:schemeClr val="accent4"/>
          </a:solidFill>
          <a:ln>
            <a:solidFill>
              <a:srgbClr val="00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PH" sz="3200" b="1" dirty="0" smtClean="0">
                <a:solidFill>
                  <a:srgbClr val="000066"/>
                </a:solidFill>
                <a:latin typeface="Roboto"/>
              </a:rPr>
              <a:t>8284A Clock Generator </a:t>
            </a:r>
          </a:p>
          <a:p>
            <a:pPr algn="ctr"/>
            <a:r>
              <a:rPr lang="en-PH" sz="3200" b="1" dirty="0" smtClean="0">
                <a:solidFill>
                  <a:srgbClr val="000066"/>
                </a:solidFill>
                <a:latin typeface="Roboto"/>
              </a:rPr>
              <a:t>Pins and Signals</a:t>
            </a:r>
            <a:endParaRPr lang="en-PH" sz="3200" b="1" dirty="0">
              <a:solidFill>
                <a:srgbClr val="000066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746312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Power Supply Pins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827139" y="2689118"/>
            <a:ext cx="2209800" cy="146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514350" eaLnBrk="0" hangingPunct="0">
              <a:defRPr sz="3000">
                <a:solidFill>
                  <a:schemeClr val="hlink"/>
                </a:solidFill>
                <a:latin typeface="Century Gothic" panose="020B0502020202020204" pitchFamily="34" charset="0"/>
              </a:defRPr>
            </a:lvl1pPr>
            <a:lvl2pPr marL="742950" indent="-285750" eaLnBrk="0" hangingPunct="0">
              <a:defRPr sz="3000">
                <a:solidFill>
                  <a:schemeClr val="hlink"/>
                </a:solidFill>
                <a:latin typeface="Century Gothic" panose="020B0502020202020204" pitchFamily="34" charset="0"/>
              </a:defRPr>
            </a:lvl2pPr>
            <a:lvl3pPr marL="1143000" indent="-228600" eaLnBrk="0" hangingPunct="0">
              <a:defRPr sz="3000">
                <a:solidFill>
                  <a:schemeClr val="hlink"/>
                </a:solidFill>
                <a:latin typeface="Century Gothic" panose="020B0502020202020204" pitchFamily="34" charset="0"/>
              </a:defRPr>
            </a:lvl3pPr>
            <a:lvl4pPr marL="1600200" indent="-228600" eaLnBrk="0" hangingPunct="0">
              <a:defRPr sz="3000">
                <a:solidFill>
                  <a:schemeClr val="hlink"/>
                </a:solidFill>
                <a:latin typeface="Century Gothic" panose="020B0502020202020204" pitchFamily="34" charset="0"/>
              </a:defRPr>
            </a:lvl4pPr>
            <a:lvl5pPr marL="2057400" indent="-228600" eaLnBrk="0" hangingPunct="0">
              <a:defRPr sz="3000">
                <a:solidFill>
                  <a:schemeClr val="hlink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3000">
                <a:solidFill>
                  <a:schemeClr val="hlink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3000">
                <a:solidFill>
                  <a:schemeClr val="hlink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3000">
                <a:solidFill>
                  <a:schemeClr val="hlink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3000">
                <a:solidFill>
                  <a:schemeClr val="hlink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Vcc - </a:t>
            </a:r>
            <a:r>
              <a:rPr lang="en-US" altLang="en-US" sz="24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(pin#18</a:t>
            </a:r>
            <a:r>
              <a:rPr lang="en-US" altLang="en-US" sz="2400" dirty="0" smtClean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altLang="en-US" sz="2400" dirty="0">
              <a:solidFill>
                <a:srgbClr val="000066"/>
              </a:solidFill>
              <a:latin typeface="Roboto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GND </a:t>
            </a:r>
            <a:r>
              <a:rPr lang="en-US" altLang="en-US" sz="24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- (pin#9)</a:t>
            </a:r>
          </a:p>
        </p:txBody>
      </p:sp>
      <p:pic>
        <p:nvPicPr>
          <p:cNvPr id="6" name="Picture 5" descr="pin dia 828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457700" y="1504334"/>
            <a:ext cx="4114800" cy="4648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Oval 6"/>
          <p:cNvSpPr/>
          <p:nvPr/>
        </p:nvSpPr>
        <p:spPr bwMode="auto">
          <a:xfrm>
            <a:off x="6667500" y="1732934"/>
            <a:ext cx="3810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 bwMode="auto">
          <a:xfrm>
            <a:off x="5753100" y="5238134"/>
            <a:ext cx="3810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9" name="Straight Arrow Connector 8"/>
          <p:cNvCxnSpPr/>
          <p:nvPr/>
        </p:nvCxnSpPr>
        <p:spPr bwMode="auto">
          <a:xfrm flipV="1">
            <a:off x="2882083" y="2089350"/>
            <a:ext cx="3816000" cy="838200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 bwMode="auto">
          <a:xfrm>
            <a:off x="2830464" y="3867764"/>
            <a:ext cx="2952000" cy="1476375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33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Input Pins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304800" y="1632145"/>
            <a:ext cx="8534400" cy="4572000"/>
            <a:chOff x="152400" y="1455169"/>
            <a:chExt cx="8534400" cy="4572000"/>
          </a:xfrm>
        </p:grpSpPr>
        <p:sp>
          <p:nvSpPr>
            <p:cNvPr id="33" name="Content Placeholder 2"/>
            <p:cNvSpPr txBox="1">
              <a:spLocks/>
            </p:cNvSpPr>
            <p:nvPr/>
          </p:nvSpPr>
          <p:spPr>
            <a:xfrm>
              <a:off x="152400" y="1593282"/>
              <a:ext cx="2362200" cy="3824287"/>
            </a:xfrm>
            <a:prstGeom prst="rect">
              <a:avLst/>
            </a:prstGeom>
            <a:ln>
              <a:noFill/>
              <a:miter lim="800000"/>
              <a:headEnd/>
              <a:tailEnd/>
            </a:ln>
          </p:spPr>
          <p:txBody>
            <a:bodyPr/>
            <a:lstStyle>
              <a:lvl1pPr marL="273050" indent="-273050" algn="l" rtl="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  <a:buFont typeface="Wingdings" pitchFamily="2" charset="2"/>
                <a:buChar char="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39763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2" pitchFamily="18" charset="2"/>
                <a:buChar char="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0752F"/>
                </a:buClr>
                <a:buSzPct val="60000"/>
                <a:buFont typeface="Wingdings" pitchFamily="2" charset="2"/>
                <a:buChar char="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50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EC3AE"/>
                </a:buClr>
                <a:buSzPct val="60000"/>
                <a:buFont typeface="Wingdings" pitchFamily="2" charset="2"/>
                <a:buChar char="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2088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itchFamily="18" charset="2"/>
                <a:buChar char="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37360" indent="-182880" algn="l" rtl="0" eaLnBrk="1" latinLnBrk="0" hangingPunct="1">
                <a:spcBef>
                  <a:spcPct val="20000"/>
                </a:spcBef>
                <a:buClr>
                  <a:schemeClr val="accent1"/>
                </a:buClr>
                <a:buChar char="•"/>
                <a:defRPr kumimoji="0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011680" indent="-182880" algn="l" rtl="0" eaLnBrk="1" latinLnBrk="0" hangingPunct="1">
                <a:spcBef>
                  <a:spcPct val="20000"/>
                </a:spcBef>
                <a:buClr>
                  <a:schemeClr val="accent1">
                    <a:tint val="60000"/>
                  </a:schemeClr>
                </a:buClr>
                <a:buSzPct val="60000"/>
                <a:buFont typeface="Wingdings"/>
                <a:buChar char=""/>
                <a:defRPr kumimoji="0" sz="14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286000" indent="-18288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Char char="•"/>
                <a:defRPr kumimoji="0" sz="1400" kern="1200" cap="small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560320" indent="-182880" algn="l" rtl="0" eaLnBrk="1" latinLnBrk="0" hangingPunct="1">
                <a:spcBef>
                  <a:spcPct val="20000"/>
                </a:spcBef>
                <a:buClr>
                  <a:schemeClr val="accent1">
                    <a:shade val="75000"/>
                  </a:schemeClr>
                </a:buClr>
                <a:buChar char="•"/>
                <a:defRPr kumimoji="0" sz="14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7950" indent="-107950" eaLnBrk="1" hangingPunct="1">
                <a:buFont typeface="Arial" charset="0"/>
                <a:buNone/>
                <a:defRPr/>
              </a:pPr>
              <a:r>
                <a:rPr lang="en-US" sz="1800" b="1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CSYNC</a:t>
              </a:r>
              <a:r>
                <a:rPr lang="en-US" sz="18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(clock synchronization)</a:t>
              </a:r>
            </a:p>
            <a:p>
              <a:pPr marL="341313" indent="-109538" eaLnBrk="1" hangingPunct="1">
                <a:buClr>
                  <a:schemeClr val="accent2">
                    <a:lumMod val="50000"/>
                  </a:schemeClr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18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pin#1</a:t>
              </a:r>
            </a:p>
            <a:p>
              <a:pPr marL="514350" indent="-514350" eaLnBrk="1" hangingPunct="1">
                <a:buFont typeface="Arial" charset="0"/>
                <a:buNone/>
                <a:defRPr/>
              </a:pPr>
              <a:r>
                <a:rPr lang="en-US" sz="1800" b="1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RDY1 and AEN1</a:t>
              </a:r>
            </a:p>
            <a:p>
              <a:pPr marL="514350" indent="-514350" eaLnBrk="1" hangingPunct="1">
                <a:buFont typeface="Arial" charset="0"/>
                <a:buNone/>
                <a:defRPr/>
              </a:pPr>
              <a:r>
                <a:rPr lang="en-US" sz="18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(ready1 &amp; address enable1)</a:t>
              </a:r>
            </a:p>
            <a:p>
              <a:pPr marL="341313" indent="-109538" eaLnBrk="1" hangingPunct="1">
                <a:buClr>
                  <a:schemeClr val="accent2">
                    <a:lumMod val="50000"/>
                  </a:schemeClr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18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pin#4; pin#3</a:t>
              </a:r>
            </a:p>
            <a:p>
              <a:pPr marL="514350" indent="-514350" eaLnBrk="1" hangingPunct="1">
                <a:buFont typeface="Arial" charset="0"/>
                <a:buNone/>
                <a:defRPr/>
              </a:pPr>
              <a:r>
                <a:rPr lang="en-US" sz="1800" b="1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RDY2 and AEN2</a:t>
              </a:r>
            </a:p>
            <a:p>
              <a:pPr marL="514350" indent="-514350" eaLnBrk="1" hangingPunct="1">
                <a:buFont typeface="Arial" charset="0"/>
                <a:buNone/>
                <a:defRPr/>
              </a:pPr>
              <a:r>
                <a:rPr lang="en-US" sz="18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(ready2 &amp; address enable2)</a:t>
              </a:r>
            </a:p>
            <a:p>
              <a:pPr marL="341313" indent="-109538" eaLnBrk="1" hangingPunct="1">
                <a:buClr>
                  <a:schemeClr val="accent2">
                    <a:lumMod val="50000"/>
                  </a:schemeClr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18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pin#6; pin#7</a:t>
              </a:r>
            </a:p>
          </p:txBody>
        </p:sp>
        <p:grpSp>
          <p:nvGrpSpPr>
            <p:cNvPr id="34" name="Group 33"/>
            <p:cNvGrpSpPr>
              <a:grpSpLocks/>
            </p:cNvGrpSpPr>
            <p:nvPr/>
          </p:nvGrpSpPr>
          <p:grpSpPr bwMode="auto">
            <a:xfrm>
              <a:off x="2590800" y="1455169"/>
              <a:ext cx="3200400" cy="4572000"/>
              <a:chOff x="4641275" y="1447800"/>
              <a:chExt cx="4114800" cy="4648200"/>
            </a:xfrm>
          </p:grpSpPr>
          <p:pic>
            <p:nvPicPr>
              <p:cNvPr id="52" name="Picture 51" descr="pin dia 8284.pn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641275" y="1447800"/>
                <a:ext cx="4114800" cy="4648200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sp>
            <p:nvSpPr>
              <p:cNvPr id="53" name="Oval 52"/>
              <p:cNvSpPr/>
              <p:nvPr/>
            </p:nvSpPr>
            <p:spPr>
              <a:xfrm>
                <a:off x="6761949" y="4816132"/>
                <a:ext cx="1581830" cy="31956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6629279" y="2133733"/>
                <a:ext cx="1371600" cy="83764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6704799" y="3886492"/>
                <a:ext cx="1296080" cy="456750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6782360" y="3505597"/>
                <a:ext cx="1363436" cy="380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4800479" y="1676982"/>
                <a:ext cx="1371600" cy="45675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4724960" y="2514627"/>
                <a:ext cx="1600200" cy="91511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4800479" y="3886492"/>
                <a:ext cx="1675720" cy="913500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6629279" y="3047233"/>
                <a:ext cx="1904320" cy="382508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35" name="Content Placeholder 2"/>
            <p:cNvSpPr txBox="1">
              <a:spLocks/>
            </p:cNvSpPr>
            <p:nvPr/>
          </p:nvSpPr>
          <p:spPr>
            <a:xfrm>
              <a:off x="5715000" y="1531369"/>
              <a:ext cx="2971800" cy="4362450"/>
            </a:xfrm>
            <a:prstGeom prst="rect">
              <a:avLst/>
            </a:prstGeom>
            <a:ln>
              <a:noFill/>
              <a:miter lim="800000"/>
              <a:headEnd/>
              <a:tailEnd/>
            </a:ln>
          </p:spPr>
          <p:txBody>
            <a:bodyPr/>
            <a:lstStyle>
              <a:lvl1pPr marL="273050" indent="-273050" algn="l" rtl="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  <a:buFont typeface="Wingdings" pitchFamily="2" charset="2"/>
                <a:buChar char="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39763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2" pitchFamily="18" charset="2"/>
                <a:buChar char="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0752F"/>
                </a:buClr>
                <a:buSzPct val="60000"/>
                <a:buFont typeface="Wingdings" pitchFamily="2" charset="2"/>
                <a:buChar char="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50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EC3AE"/>
                </a:buClr>
                <a:buSzPct val="60000"/>
                <a:buFont typeface="Wingdings" pitchFamily="2" charset="2"/>
                <a:buChar char="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2088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itchFamily="18" charset="2"/>
                <a:buChar char="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37360" indent="-182880" algn="l" rtl="0" eaLnBrk="1" latinLnBrk="0" hangingPunct="1">
                <a:spcBef>
                  <a:spcPct val="20000"/>
                </a:spcBef>
                <a:buClr>
                  <a:schemeClr val="accent1"/>
                </a:buClr>
                <a:buChar char="•"/>
                <a:defRPr kumimoji="0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011680" indent="-182880" algn="l" rtl="0" eaLnBrk="1" latinLnBrk="0" hangingPunct="1">
                <a:spcBef>
                  <a:spcPct val="20000"/>
                </a:spcBef>
                <a:buClr>
                  <a:schemeClr val="accent1">
                    <a:tint val="60000"/>
                  </a:schemeClr>
                </a:buClr>
                <a:buSzPct val="60000"/>
                <a:buFont typeface="Wingdings"/>
                <a:buChar char=""/>
                <a:defRPr kumimoji="0" sz="14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286000" indent="-18288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Char char="•"/>
                <a:defRPr kumimoji="0" sz="1400" kern="1200" cap="small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560320" indent="-182880" algn="l" rtl="0" eaLnBrk="1" latinLnBrk="0" hangingPunct="1">
                <a:spcBef>
                  <a:spcPct val="20000"/>
                </a:spcBef>
                <a:buClr>
                  <a:schemeClr val="accent1">
                    <a:shade val="75000"/>
                  </a:schemeClr>
                </a:buClr>
                <a:buChar char="•"/>
                <a:defRPr kumimoji="0" sz="14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14350" indent="-514350" eaLnBrk="1" hangingPunct="1">
                <a:buFont typeface="Wingdings" pitchFamily="2" charset="2"/>
                <a:buNone/>
                <a:defRPr/>
              </a:pPr>
              <a:r>
                <a:rPr lang="en-US" sz="1800" b="1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X1 and X2 </a:t>
              </a:r>
              <a:r>
                <a:rPr lang="en-US" sz="18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(crystal inputs)</a:t>
              </a:r>
            </a:p>
            <a:p>
              <a:pPr marL="341313" indent="-109538" eaLnBrk="1" hangingPunct="1">
                <a:buClr>
                  <a:schemeClr val="accent2">
                    <a:lumMod val="50000"/>
                  </a:schemeClr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18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pin#17; pin#16</a:t>
              </a:r>
            </a:p>
            <a:p>
              <a:pPr marL="514350" indent="-514350" eaLnBrk="1" hangingPunct="1">
                <a:buFont typeface="Wingdings" pitchFamily="2" charset="2"/>
                <a:buNone/>
                <a:defRPr/>
              </a:pPr>
              <a:r>
                <a:rPr lang="en-US" sz="1800" b="1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ASYNC </a:t>
              </a:r>
              <a:r>
                <a:rPr lang="en-US" sz="18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(synchronization select)</a:t>
              </a:r>
            </a:p>
            <a:p>
              <a:pPr marL="341313" indent="-109538" eaLnBrk="1" hangingPunct="1">
                <a:buClr>
                  <a:schemeClr val="accent2">
                    <a:lumMod val="50000"/>
                  </a:schemeClr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18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pin#15</a:t>
              </a:r>
            </a:p>
            <a:p>
              <a:pPr marL="514350" indent="-514350" eaLnBrk="1" hangingPunct="1">
                <a:buFont typeface="Arial" charset="0"/>
                <a:buNone/>
                <a:defRPr/>
              </a:pPr>
              <a:r>
                <a:rPr lang="en-US" sz="1800" b="1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EFI </a:t>
              </a:r>
              <a:r>
                <a:rPr lang="en-US" sz="18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(external frequency input)</a:t>
              </a:r>
            </a:p>
            <a:p>
              <a:pPr marL="341313" indent="-109538" eaLnBrk="1" hangingPunct="1">
                <a:buClr>
                  <a:schemeClr val="accent2">
                    <a:lumMod val="50000"/>
                  </a:schemeClr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18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pin#14</a:t>
              </a:r>
            </a:p>
            <a:p>
              <a:pPr marL="514350" indent="-514350" eaLnBrk="1" hangingPunct="1">
                <a:buFont typeface="Wingdings" pitchFamily="2" charset="2"/>
                <a:buNone/>
                <a:defRPr/>
              </a:pPr>
              <a:r>
                <a:rPr lang="en-US" sz="1800" b="1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F/C</a:t>
              </a:r>
              <a:r>
                <a:rPr lang="en-US" sz="18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 (frequency/crystal select)</a:t>
              </a:r>
            </a:p>
            <a:p>
              <a:pPr marL="341313" indent="-109538" eaLnBrk="1" hangingPunct="1">
                <a:buClr>
                  <a:schemeClr val="accent2">
                    <a:lumMod val="50000"/>
                  </a:schemeClr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18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pin#13</a:t>
              </a:r>
            </a:p>
            <a:p>
              <a:pPr marL="514350" indent="-514350" eaLnBrk="1" hangingPunct="1">
                <a:buFont typeface="Wingdings" pitchFamily="2" charset="2"/>
                <a:buNone/>
                <a:defRPr/>
              </a:pPr>
              <a:r>
                <a:rPr lang="en-US" sz="1800" b="1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RES</a:t>
              </a:r>
              <a:r>
                <a:rPr lang="en-US" sz="18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 (reset input) </a:t>
              </a:r>
            </a:p>
            <a:p>
              <a:pPr marL="341313" indent="-109538" eaLnBrk="1" hangingPunct="1">
                <a:buClr>
                  <a:schemeClr val="accent2">
                    <a:lumMod val="50000"/>
                  </a:schemeClr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18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pin#11</a:t>
              </a:r>
            </a:p>
          </p:txBody>
        </p:sp>
        <p:grpSp>
          <p:nvGrpSpPr>
            <p:cNvPr id="36" name="Group 41"/>
            <p:cNvGrpSpPr>
              <a:grpSpLocks/>
            </p:cNvGrpSpPr>
            <p:nvPr/>
          </p:nvGrpSpPr>
          <p:grpSpPr bwMode="auto">
            <a:xfrm>
              <a:off x="1204291" y="1944192"/>
              <a:ext cx="1580626" cy="3112606"/>
              <a:chOff x="1204225" y="1708661"/>
              <a:chExt cx="1581419" cy="3112489"/>
            </a:xfrm>
          </p:grpSpPr>
          <p:cxnSp>
            <p:nvCxnSpPr>
              <p:cNvPr id="49" name="Straight Arrow Connector 48"/>
              <p:cNvCxnSpPr/>
              <p:nvPr/>
            </p:nvCxnSpPr>
            <p:spPr>
              <a:xfrm flipV="1">
                <a:off x="1204225" y="1708661"/>
                <a:ext cx="1512759" cy="465120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/>
              <p:nvPr/>
            </p:nvCxnSpPr>
            <p:spPr>
              <a:xfrm flipV="1">
                <a:off x="1885192" y="2980130"/>
                <a:ext cx="900452" cy="503981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/>
              <p:nvPr/>
            </p:nvCxnSpPr>
            <p:spPr>
              <a:xfrm flipV="1">
                <a:off x="1880150" y="4197285"/>
                <a:ext cx="864433" cy="623865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42"/>
            <p:cNvGrpSpPr>
              <a:grpSpLocks/>
            </p:cNvGrpSpPr>
            <p:nvPr/>
          </p:nvGrpSpPr>
          <p:grpSpPr bwMode="auto">
            <a:xfrm>
              <a:off x="5154144" y="2109981"/>
              <a:ext cx="872223" cy="3507556"/>
              <a:chOff x="5154400" y="1873879"/>
              <a:chExt cx="872458" cy="3507677"/>
            </a:xfrm>
          </p:grpSpPr>
          <p:cxnSp>
            <p:nvCxnSpPr>
              <p:cNvPr id="44" name="Straight Arrow Connector 43"/>
              <p:cNvCxnSpPr/>
              <p:nvPr/>
            </p:nvCxnSpPr>
            <p:spPr>
              <a:xfrm flipH="1">
                <a:off x="5154400" y="1873879"/>
                <a:ext cx="828223" cy="239721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 flipH="1">
                <a:off x="5594741" y="2818022"/>
                <a:ext cx="432117" cy="187332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/>
              <p:nvPr/>
            </p:nvCxnSpPr>
            <p:spPr>
              <a:xfrm flipH="1" flipV="1">
                <a:off x="5316855" y="3430515"/>
                <a:ext cx="689059" cy="285754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/>
              <p:cNvCxnSpPr/>
              <p:nvPr/>
            </p:nvCxnSpPr>
            <p:spPr>
              <a:xfrm flipH="1" flipV="1">
                <a:off x="5177690" y="3931382"/>
                <a:ext cx="828223" cy="744472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/>
              <p:nvPr/>
            </p:nvCxnSpPr>
            <p:spPr>
              <a:xfrm flipH="1" flipV="1">
                <a:off x="5350882" y="4771398"/>
                <a:ext cx="655031" cy="610158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/>
            <p:cNvGrpSpPr>
              <a:grpSpLocks/>
            </p:cNvGrpSpPr>
            <p:nvPr/>
          </p:nvGrpSpPr>
          <p:grpSpPr bwMode="auto">
            <a:xfrm>
              <a:off x="1350963" y="2291782"/>
              <a:ext cx="5202237" cy="2924175"/>
              <a:chOff x="1350433" y="2056342"/>
              <a:chExt cx="5202767" cy="2924175"/>
            </a:xfrm>
          </p:grpSpPr>
          <p:cxnSp>
            <p:nvCxnSpPr>
              <p:cNvPr id="39" name="Straight Connector 38"/>
              <p:cNvCxnSpPr/>
              <p:nvPr/>
            </p:nvCxnSpPr>
            <p:spPr bwMode="auto">
              <a:xfrm>
                <a:off x="6067376" y="4015317"/>
                <a:ext cx="107961" cy="0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 bwMode="auto">
              <a:xfrm>
                <a:off x="5791122" y="2056342"/>
                <a:ext cx="762078" cy="0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 bwMode="auto">
              <a:xfrm>
                <a:off x="5791122" y="4980517"/>
                <a:ext cx="381039" cy="0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auto">
              <a:xfrm>
                <a:off x="1350433" y="2392892"/>
                <a:ext cx="616013" cy="0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auto">
              <a:xfrm>
                <a:off x="1364721" y="3716867"/>
                <a:ext cx="616013" cy="0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663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CSYNC (Clock Synchronization)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grpSp>
        <p:nvGrpSpPr>
          <p:cNvPr id="3" name="Group 2"/>
          <p:cNvGrpSpPr>
            <a:grpSpLocks noChangeAspect="1"/>
          </p:cNvGrpSpPr>
          <p:nvPr/>
        </p:nvGrpSpPr>
        <p:grpSpPr bwMode="auto">
          <a:xfrm>
            <a:off x="5397910" y="1669209"/>
            <a:ext cx="3272727" cy="4500000"/>
            <a:chOff x="4572000" y="1447800"/>
            <a:chExt cx="4114800" cy="4648200"/>
          </a:xfrm>
        </p:grpSpPr>
        <p:pic>
          <p:nvPicPr>
            <p:cNvPr id="5" name="Picture 4" descr="pin dia 8284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447800"/>
              <a:ext cx="4114800" cy="46482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6" name="Oval 5"/>
            <p:cNvSpPr/>
            <p:nvPr/>
          </p:nvSpPr>
          <p:spPr>
            <a:xfrm>
              <a:off x="4723805" y="1676689"/>
              <a:ext cx="1448395" cy="45631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Rectangle 1"/>
          <p:cNvSpPr/>
          <p:nvPr/>
        </p:nvSpPr>
        <p:spPr>
          <a:xfrm>
            <a:off x="551963" y="2329153"/>
            <a:ext cx="4373998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This active-high signal is used to allow several 8284 chips to be connected together and synchronized.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1963" y="3673735"/>
            <a:ext cx="4373998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The IBM PC only uses one 8284A; therefore, this pin is connected to ground (low).</a:t>
            </a:r>
            <a:endParaRPr lang="en-PH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65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RDY1 and AEN1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5038778" y="659889"/>
            <a:ext cx="864000" cy="0"/>
          </a:xfrm>
          <a:prstGeom prst="line">
            <a:avLst/>
          </a:prstGeom>
          <a:ln>
            <a:solidFill>
              <a:srgbClr val="000066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6055382" y="1669025"/>
            <a:ext cx="2863636" cy="4500000"/>
            <a:chOff x="4572000" y="1447800"/>
            <a:chExt cx="4114800" cy="4648200"/>
          </a:xfrm>
        </p:grpSpPr>
        <p:pic>
          <p:nvPicPr>
            <p:cNvPr id="6" name="Picture 5" descr="pin dia 8284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447800"/>
              <a:ext cx="4114800" cy="46482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7" name="Oval 6"/>
            <p:cNvSpPr/>
            <p:nvPr/>
          </p:nvSpPr>
          <p:spPr>
            <a:xfrm>
              <a:off x="4800600" y="2514480"/>
              <a:ext cx="1447120" cy="99185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57806" y="1784325"/>
            <a:ext cx="5498857" cy="3877985"/>
            <a:chOff x="298172" y="1714752"/>
            <a:chExt cx="5498857" cy="3877985"/>
          </a:xfrm>
        </p:grpSpPr>
        <p:sp>
          <p:nvSpPr>
            <p:cNvPr id="13" name="Rectangle 12"/>
            <p:cNvSpPr/>
            <p:nvPr/>
          </p:nvSpPr>
          <p:spPr>
            <a:xfrm>
              <a:off x="298172" y="1714752"/>
              <a:ext cx="5498857" cy="387798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txBody>
            <a:bodyPr wrap="square">
              <a:spAutoFit/>
            </a:bodyPr>
            <a:lstStyle/>
            <a:p>
              <a:pPr marL="285750" indent="-285750" algn="just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rgbClr val="000066"/>
                  </a:solidFill>
                  <a:latin typeface="Roboto"/>
                  <a:cs typeface="Times New Roman" panose="02020603050405020304" pitchFamily="18" charset="0"/>
                </a:rPr>
                <a:t>RDY1 is active high and AEN1 (address enable1) is active low.</a:t>
              </a:r>
            </a:p>
            <a:p>
              <a:pPr marL="285750" indent="-285750" algn="just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endParaRPr lang="en-US" altLang="en-US" dirty="0" smtClean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endParaRPr>
            </a:p>
            <a:p>
              <a:pPr marL="285750" indent="-285750" algn="just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altLang="en-US" dirty="0" smtClean="0">
                  <a:solidFill>
                    <a:srgbClr val="000066"/>
                  </a:solidFill>
                  <a:latin typeface="Roboto"/>
                  <a:cs typeface="Times New Roman" panose="02020603050405020304" pitchFamily="18" charset="0"/>
                </a:rPr>
                <a:t>They are </a:t>
              </a:r>
              <a:r>
                <a:rPr lang="en-US" altLang="en-US" dirty="0" smtClean="0">
                  <a:solidFill>
                    <a:schemeClr val="accent2">
                      <a:lumMod val="50000"/>
                    </a:schemeClr>
                  </a:solidFill>
                  <a:latin typeface="Roboto"/>
                  <a:cs typeface="Times New Roman" panose="02020603050405020304" pitchFamily="18" charset="0"/>
                </a:rPr>
                <a:t>used together to provide a </a:t>
              </a:r>
              <a:r>
                <a:rPr lang="en-US" altLang="en-US" b="1" dirty="0" smtClean="0">
                  <a:solidFill>
                    <a:srgbClr val="000066"/>
                  </a:solidFill>
                  <a:latin typeface="Roboto"/>
                  <a:cs typeface="Times New Roman" panose="02020603050405020304" pitchFamily="18" charset="0"/>
                </a:rPr>
                <a:t>ready signal</a:t>
              </a:r>
              <a:r>
                <a:rPr lang="en-US" altLang="en-US" dirty="0" smtClean="0">
                  <a:solidFill>
                    <a:schemeClr val="accent2">
                      <a:lumMod val="50000"/>
                    </a:schemeClr>
                  </a:solidFill>
                  <a:latin typeface="Roboto"/>
                  <a:cs typeface="Times New Roman" panose="02020603050405020304" pitchFamily="18" charset="0"/>
                </a:rPr>
                <a:t> to the microprocessor</a:t>
              </a:r>
              <a:r>
                <a:rPr lang="en-US" altLang="en-US" dirty="0" smtClean="0">
                  <a:solidFill>
                    <a:srgbClr val="000066"/>
                  </a:solidFill>
                  <a:latin typeface="Roboto"/>
                  <a:cs typeface="Times New Roman" panose="02020603050405020304" pitchFamily="18" charset="0"/>
                </a:rPr>
                <a:t>, which will insert a WAIT state to the CPU read/write cycle.</a:t>
              </a:r>
            </a:p>
            <a:p>
              <a:pPr marL="285750" indent="-285750" algn="just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endParaRPr lang="en-US" altLang="en-US" dirty="0" smtClean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endParaRPr>
            </a:p>
            <a:p>
              <a:pPr marL="285750" indent="-285750" algn="just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altLang="en-US" dirty="0" smtClean="0">
                  <a:solidFill>
                    <a:srgbClr val="000066"/>
                  </a:solidFill>
                  <a:latin typeface="Roboto"/>
                  <a:cs typeface="Times New Roman" panose="02020603050405020304" pitchFamily="18" charset="0"/>
                </a:rPr>
                <a:t>In </a:t>
              </a:r>
              <a:r>
                <a:rPr lang="en-US" altLang="en-US" dirty="0">
                  <a:solidFill>
                    <a:srgbClr val="000066"/>
                  </a:solidFill>
                  <a:latin typeface="Roboto"/>
                  <a:cs typeface="Times New Roman" panose="02020603050405020304" pitchFamily="18" charset="0"/>
                </a:rPr>
                <a:t>the IBM PC, RDY1 is connected to DMA/WAIT and AEN1 is connected to RDY/WAIT.</a:t>
              </a:r>
            </a:p>
            <a:p>
              <a:pPr marL="285750" indent="-285750" algn="just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endPara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endParaRPr>
            </a:p>
            <a:p>
              <a:pPr marL="285750" indent="-285750" algn="just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rgbClr val="000066"/>
                  </a:solidFill>
                  <a:latin typeface="Roboto"/>
                  <a:cs typeface="Times New Roman" panose="02020603050405020304" pitchFamily="18" charset="0"/>
                </a:rPr>
                <a:t>They allow the wait state to be inserted either by the CPU or by  DMA.</a:t>
              </a:r>
              <a:endParaRPr lang="en-US" altLang="en-US" u="sng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3210344" y="1771775"/>
              <a:ext cx="576000" cy="0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126436" y="4269811"/>
              <a:ext cx="576000" cy="0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555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 noChangeAspect="1"/>
          </p:cNvGrpSpPr>
          <p:nvPr/>
        </p:nvGrpSpPr>
        <p:grpSpPr bwMode="auto">
          <a:xfrm>
            <a:off x="5902778" y="1723665"/>
            <a:ext cx="2863636" cy="4500000"/>
            <a:chOff x="4572000" y="1447800"/>
            <a:chExt cx="4114800" cy="4648200"/>
          </a:xfrm>
        </p:grpSpPr>
        <p:pic>
          <p:nvPicPr>
            <p:cNvPr id="5" name="Picture 4" descr="pin dia 8284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447800"/>
              <a:ext cx="4114800" cy="46482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6" name="Oval 5"/>
            <p:cNvSpPr/>
            <p:nvPr/>
          </p:nvSpPr>
          <p:spPr>
            <a:xfrm>
              <a:off x="4800600" y="3886344"/>
              <a:ext cx="1600200" cy="91408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RDY2 and AEN2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5038778" y="659889"/>
            <a:ext cx="864000" cy="0"/>
          </a:xfrm>
          <a:prstGeom prst="line">
            <a:avLst/>
          </a:prstGeom>
          <a:ln>
            <a:solidFill>
              <a:srgbClr val="000066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446174" y="1723665"/>
            <a:ext cx="5227262" cy="4376070"/>
            <a:chOff x="446174" y="1738191"/>
            <a:chExt cx="5227262" cy="4376070"/>
          </a:xfrm>
        </p:grpSpPr>
        <p:sp>
          <p:nvSpPr>
            <p:cNvPr id="19" name="Rectangle 18"/>
            <p:cNvSpPr/>
            <p:nvPr/>
          </p:nvSpPr>
          <p:spPr>
            <a:xfrm>
              <a:off x="446174" y="1738191"/>
              <a:ext cx="5227262" cy="437607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30000"/>
                </a:lnSpc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rgbClr val="000066"/>
                  </a:solidFill>
                  <a:latin typeface="Roboto"/>
                </a:rPr>
                <a:t>These function exactly like RDY1 and AEN1.</a:t>
              </a:r>
            </a:p>
            <a:p>
              <a:pPr marL="285750" indent="-285750" algn="just">
                <a:lnSpc>
                  <a:spcPct val="130000"/>
                </a:lnSpc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altLang="en-US" dirty="0" smtClean="0">
                  <a:solidFill>
                    <a:srgbClr val="000066"/>
                  </a:solidFill>
                  <a:latin typeface="Roboto"/>
                </a:rPr>
                <a:t>These </a:t>
              </a:r>
              <a:r>
                <a:rPr lang="en-US" altLang="en-US" dirty="0">
                  <a:solidFill>
                    <a:srgbClr val="000066"/>
                  </a:solidFill>
                  <a:latin typeface="Roboto"/>
                </a:rPr>
                <a:t>extra RDY signal and AEN signal are provided to allow for a multiprocessing system.</a:t>
              </a:r>
            </a:p>
            <a:p>
              <a:pPr marL="285750" indent="-285750" algn="just">
                <a:lnSpc>
                  <a:spcPct val="130000"/>
                </a:lnSpc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altLang="en-US" dirty="0" smtClean="0">
                  <a:solidFill>
                    <a:srgbClr val="000066"/>
                  </a:solidFill>
                  <a:latin typeface="Roboto"/>
                </a:rPr>
                <a:t>It </a:t>
              </a:r>
              <a:r>
                <a:rPr lang="en-US" altLang="en-US" dirty="0">
                  <a:solidFill>
                    <a:srgbClr val="000066"/>
                  </a:solidFill>
                  <a:latin typeface="Roboto"/>
                </a:rPr>
                <a:t>allows other general-purpose CPUs such as the 8086/8088 to gain control over the buses.</a:t>
              </a:r>
            </a:p>
            <a:p>
              <a:pPr marL="285750" indent="-285750" algn="just">
                <a:lnSpc>
                  <a:spcPct val="130000"/>
                </a:lnSpc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altLang="en-US" dirty="0" smtClean="0">
                  <a:solidFill>
                    <a:srgbClr val="000066"/>
                  </a:solidFill>
                  <a:latin typeface="Roboto"/>
                </a:rPr>
                <a:t>In </a:t>
              </a:r>
              <a:r>
                <a:rPr lang="en-US" altLang="en-US" dirty="0">
                  <a:solidFill>
                    <a:srgbClr val="000066"/>
                  </a:solidFill>
                  <a:latin typeface="Roboto"/>
                </a:rPr>
                <a:t>the IBM PC, RDY2 is connected to low, AEN2 is connected to high, which permanently disables this function since there is only one 8086/8088 µP in the system.</a:t>
              </a:r>
            </a:p>
            <a:p>
              <a:pPr marL="285750" indent="-285750" algn="just">
                <a:lnSpc>
                  <a:spcPct val="130000"/>
                </a:lnSpc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altLang="en-US" dirty="0" smtClean="0">
                  <a:solidFill>
                    <a:srgbClr val="000066"/>
                  </a:solidFill>
                  <a:latin typeface="Roboto"/>
                </a:rPr>
                <a:t>In </a:t>
              </a:r>
              <a:r>
                <a:rPr lang="en-US" altLang="en-US" dirty="0">
                  <a:solidFill>
                    <a:srgbClr val="000066"/>
                  </a:solidFill>
                  <a:latin typeface="Roboto"/>
                </a:rPr>
                <a:t>cases of multiprocessor systems, these signals are used to coordinate access over the buses by different CPUs.</a:t>
              </a:r>
              <a:endParaRPr lang="en-PH" dirty="0">
                <a:solidFill>
                  <a:srgbClr val="000066"/>
                </a:solidFill>
                <a:latin typeface="Roboto"/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 bwMode="auto">
            <a:xfrm>
              <a:off x="4691224" y="1846254"/>
              <a:ext cx="540000" cy="0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auto">
            <a:xfrm>
              <a:off x="826682" y="3994085"/>
              <a:ext cx="576000" cy="0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307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X1 and X2 Crystal Inputs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5916560" y="1659193"/>
            <a:ext cx="2863636" cy="4500000"/>
            <a:chOff x="4572000" y="1447800"/>
            <a:chExt cx="4114800" cy="4648200"/>
          </a:xfrm>
        </p:grpSpPr>
        <p:pic>
          <p:nvPicPr>
            <p:cNvPr id="6" name="Picture 5" descr="pin dia 8284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447800"/>
              <a:ext cx="4114800" cy="46482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7" name="Oval 6"/>
            <p:cNvSpPr/>
            <p:nvPr/>
          </p:nvSpPr>
          <p:spPr>
            <a:xfrm>
              <a:off x="6704920" y="2134466"/>
              <a:ext cx="1296080" cy="83632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Rectangle 2"/>
          <p:cNvSpPr/>
          <p:nvPr/>
        </p:nvSpPr>
        <p:spPr>
          <a:xfrm>
            <a:off x="535857" y="1748334"/>
            <a:ext cx="5184060" cy="45243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XI and X2 are the pins to which a crystal is attached.</a:t>
            </a:r>
          </a:p>
          <a:p>
            <a:pPr marL="171450" indent="-1714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sz="700" dirty="0">
              <a:solidFill>
                <a:srgbClr val="000066"/>
              </a:solidFill>
              <a:latin typeface="Roboto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The </a:t>
            </a:r>
            <a:r>
              <a:rPr lang="en-US" altLang="en-US" sz="2000" i="1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crystal frequency</a:t>
            </a: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 must be </a:t>
            </a:r>
            <a:r>
              <a:rPr lang="en-US" altLang="en-US" sz="2000" i="1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3 times</a:t>
            </a: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 the </a:t>
            </a:r>
            <a:r>
              <a:rPr lang="en-US" altLang="en-US" sz="2000" i="1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desired frequency for the microprocessor (i.e</a:t>
            </a:r>
            <a:r>
              <a:rPr lang="en-US" altLang="en-US" sz="2000" i="1" dirty="0" smtClean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., If </a:t>
            </a:r>
            <a:r>
              <a:rPr lang="en-US" altLang="en-US" sz="2000" i="1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the required frequency is </a:t>
            </a:r>
            <a:r>
              <a:rPr lang="en-US" altLang="en-US" sz="2000" b="1" i="1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5 MHz</a:t>
            </a:r>
            <a:r>
              <a:rPr lang="en-US" altLang="en-US" sz="2000" i="1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, the crystal frequency will be </a:t>
            </a:r>
            <a:r>
              <a:rPr lang="en-US" altLang="en-US" sz="2000" b="1" i="1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15 MHz</a:t>
            </a:r>
            <a:r>
              <a:rPr lang="en-US" altLang="en-US" sz="2000" i="1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)</a:t>
            </a:r>
            <a:r>
              <a:rPr lang="en-US" altLang="en-US" sz="2000" i="1" dirty="0" smtClean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.</a:t>
            </a:r>
            <a:endParaRPr lang="en-US" altLang="en-US" sz="2000" i="1" dirty="0">
              <a:solidFill>
                <a:srgbClr val="000066"/>
              </a:solidFill>
              <a:latin typeface="Roboto"/>
              <a:cs typeface="Times New Roman" panose="02020603050405020304" pitchFamily="18" charset="0"/>
            </a:endParaRPr>
          </a:p>
          <a:p>
            <a:pPr marL="171450" indent="-1714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sz="700" dirty="0">
              <a:solidFill>
                <a:srgbClr val="000066"/>
              </a:solidFill>
              <a:latin typeface="Roboto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The maximum crystal for the 8284A is 24 MHz and 30MHz for the 8284A-1.</a:t>
            </a:r>
          </a:p>
          <a:p>
            <a:pPr marL="171450" indent="-1714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sz="700" dirty="0">
              <a:solidFill>
                <a:srgbClr val="000066"/>
              </a:solidFill>
              <a:latin typeface="Roboto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The IBM PC is connected to a crystal of 14.31818  MHz.</a:t>
            </a:r>
          </a:p>
          <a:p>
            <a:pPr marL="171450" indent="-1714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sz="700" dirty="0">
              <a:solidFill>
                <a:srgbClr val="000066"/>
              </a:solidFill>
              <a:latin typeface="Roboto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For some turbo compatibles, it is 24 MHz.</a:t>
            </a:r>
            <a:endParaRPr lang="en-PH" sz="2000" dirty="0">
              <a:solidFill>
                <a:srgbClr val="000066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19509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Crystal Oscillator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2378665" y="3632904"/>
            <a:ext cx="4386667" cy="2395275"/>
            <a:chOff x="609474" y="1575405"/>
            <a:chExt cx="4386667" cy="239527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474" y="1575405"/>
              <a:ext cx="4386667" cy="216000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747359" y="3724459"/>
              <a:ext cx="21108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PH" sz="1000" dirty="0" smtClean="0">
                  <a:solidFill>
                    <a:srgbClr val="0070C0"/>
                  </a:solidFill>
                  <a:latin typeface="Roboto"/>
                </a:rPr>
                <a:t>Types of Crystal Oscillator</a:t>
              </a:r>
              <a:endParaRPr lang="en-PH" sz="1000" dirty="0">
                <a:solidFill>
                  <a:srgbClr val="0070C0"/>
                </a:solidFill>
                <a:latin typeface="Roboto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518651" y="1765677"/>
            <a:ext cx="8106697" cy="15696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sz="2400" dirty="0">
                <a:solidFill>
                  <a:srgbClr val="000066"/>
                </a:solidFill>
                <a:latin typeface="Roboto"/>
              </a:rPr>
              <a:t>A </a:t>
            </a:r>
            <a:r>
              <a:rPr lang="en-PH" sz="2400" b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crystal oscillator</a:t>
            </a:r>
            <a:r>
              <a:rPr lang="en-PH" sz="2400" dirty="0">
                <a:solidFill>
                  <a:srgbClr val="000066"/>
                </a:solidFill>
                <a:latin typeface="Roboto"/>
              </a:rPr>
              <a:t> </a:t>
            </a:r>
            <a:r>
              <a:rPr lang="en-PH" sz="2400" dirty="0" smtClean="0">
                <a:solidFill>
                  <a:srgbClr val="000066"/>
                </a:solidFill>
                <a:latin typeface="Roboto"/>
              </a:rPr>
              <a:t>is </a:t>
            </a:r>
            <a:r>
              <a:rPr lang="en-PH" sz="2400" dirty="0">
                <a:solidFill>
                  <a:srgbClr val="000066"/>
                </a:solidFill>
                <a:latin typeface="Roboto"/>
              </a:rPr>
              <a:t>an electronic oscillator circuit that uses the mechanical resonance of a vibrating crystal of piezoelectric material to create an electrical signal with a very precise frequency.</a:t>
            </a:r>
          </a:p>
        </p:txBody>
      </p:sp>
    </p:spTree>
    <p:extLst>
      <p:ext uri="{BB962C8B-B14F-4D97-AF65-F5344CB8AC3E}">
        <p14:creationId xmlns:p14="http://schemas.microsoft.com/office/powerpoint/2010/main" val="258136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Crystal Oscillator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18651" y="1765677"/>
            <a:ext cx="8106697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66"/>
                </a:solidFill>
                <a:latin typeface="Roboto"/>
              </a:rPr>
              <a:t>The 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most common type of piezoelectric resonator</a:t>
            </a:r>
            <a:r>
              <a:rPr lang="en-US" sz="2400" dirty="0">
                <a:solidFill>
                  <a:srgbClr val="000066"/>
                </a:solidFill>
                <a:latin typeface="Roboto"/>
              </a:rPr>
              <a:t> used is the </a:t>
            </a:r>
            <a:r>
              <a:rPr lang="en-US" sz="2400" b="1" dirty="0">
                <a:solidFill>
                  <a:srgbClr val="000066"/>
                </a:solidFill>
                <a:latin typeface="Roboto"/>
              </a:rPr>
              <a:t>quartz </a:t>
            </a:r>
            <a:r>
              <a:rPr lang="en-US" sz="2400" b="1" dirty="0" smtClean="0">
                <a:solidFill>
                  <a:srgbClr val="000066"/>
                </a:solidFill>
                <a:latin typeface="Roboto"/>
              </a:rPr>
              <a:t>crystal</a:t>
            </a:r>
            <a:r>
              <a:rPr lang="en-US" sz="2400" dirty="0" smtClean="0">
                <a:solidFill>
                  <a:srgbClr val="000066"/>
                </a:solidFill>
                <a:latin typeface="Roboto"/>
              </a:rPr>
              <a:t>, </a:t>
            </a:r>
            <a:r>
              <a:rPr lang="en-US" sz="2400" dirty="0">
                <a:solidFill>
                  <a:srgbClr val="000066"/>
                </a:solidFill>
                <a:latin typeface="Roboto"/>
              </a:rPr>
              <a:t>so </a:t>
            </a:r>
            <a:r>
              <a:rPr lang="en-US" sz="2400" i="1" dirty="0">
                <a:solidFill>
                  <a:srgbClr val="000066"/>
                </a:solidFill>
                <a:latin typeface="Roboto"/>
              </a:rPr>
              <a:t>oscillator circuits incorporating them became known as </a:t>
            </a:r>
            <a:r>
              <a:rPr lang="en-US" sz="2400" b="1" dirty="0">
                <a:solidFill>
                  <a:srgbClr val="000066"/>
                </a:solidFill>
                <a:latin typeface="Roboto"/>
              </a:rPr>
              <a:t>crystal oscillators</a:t>
            </a:r>
            <a:r>
              <a:rPr lang="en-US" sz="2400" dirty="0">
                <a:solidFill>
                  <a:srgbClr val="000066"/>
                </a:solidFill>
                <a:latin typeface="Roboto"/>
              </a:rPr>
              <a:t>.</a:t>
            </a:r>
            <a:endParaRPr lang="en-PH" sz="2400" dirty="0">
              <a:solidFill>
                <a:srgbClr val="000066"/>
              </a:solidFill>
              <a:latin typeface="Roboto"/>
            </a:endParaRPr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2780512" y="3312747"/>
            <a:ext cx="3728345" cy="2880000"/>
            <a:chOff x="4688585" y="4105516"/>
            <a:chExt cx="3130689" cy="2418334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/>
            <a:srcRect l="2693" t="4093" r="2756" b="5960"/>
            <a:stretch/>
          </p:blipFill>
          <p:spPr>
            <a:xfrm>
              <a:off x="4688585" y="4105516"/>
              <a:ext cx="3130689" cy="2160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5206206" y="6277629"/>
              <a:ext cx="209544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PH" sz="1000" dirty="0">
                  <a:solidFill>
                    <a:srgbClr val="0070C0"/>
                  </a:solidFill>
                  <a:latin typeface="Roboto"/>
                </a:rPr>
                <a:t>Cluster of Natural Quartz Crystals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457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Crystal Oscillator: </a:t>
            </a:r>
            <a:r>
              <a:rPr lang="en-PH" sz="2800" b="1" dirty="0" smtClean="0">
                <a:solidFill>
                  <a:schemeClr val="bg1"/>
                </a:solidFill>
                <a:latin typeface="Roboto"/>
              </a:rPr>
              <a:t>Operation</a:t>
            </a:r>
            <a:endParaRPr lang="en-PH" sz="2800" b="1" dirty="0">
              <a:solidFill>
                <a:schemeClr val="bg1"/>
              </a:solidFill>
              <a:latin typeface="Roboto"/>
            </a:endParaRPr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>
          <a:xfrm>
            <a:off x="2656292" y="3480942"/>
            <a:ext cx="3831413" cy="2880000"/>
            <a:chOff x="924232" y="884902"/>
            <a:chExt cx="3201120" cy="2406221"/>
          </a:xfrm>
        </p:grpSpPr>
        <p:sp>
          <p:nvSpPr>
            <p:cNvPr id="16" name="Rectangle 15"/>
            <p:cNvSpPr/>
            <p:nvPr/>
          </p:nvSpPr>
          <p:spPr>
            <a:xfrm>
              <a:off x="1032747" y="3044902"/>
              <a:ext cx="298409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PH" sz="1000" dirty="0">
                  <a:solidFill>
                    <a:srgbClr val="0070C0"/>
                  </a:solidFill>
                  <a:latin typeface="Roboto"/>
                </a:rPr>
                <a:t>Internal Construction of Quartz Crystal Oscillators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2"/>
            <a:srcRect l="697" t="2144" b="8091"/>
            <a:stretch/>
          </p:blipFill>
          <p:spPr>
            <a:xfrm>
              <a:off x="924232" y="884902"/>
              <a:ext cx="3201120" cy="2160000"/>
            </a:xfrm>
            <a:prstGeom prst="rect">
              <a:avLst/>
            </a:prstGeom>
          </p:spPr>
        </p:pic>
      </p:grpSp>
      <p:sp>
        <p:nvSpPr>
          <p:cNvPr id="3" name="Rectangle 2"/>
          <p:cNvSpPr/>
          <p:nvPr/>
        </p:nvSpPr>
        <p:spPr>
          <a:xfrm>
            <a:off x="531082" y="1653193"/>
            <a:ext cx="8081834" cy="15327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68288" indent="-268288" algn="just">
              <a:lnSpc>
                <a:spcPct val="130000"/>
              </a:lnSpc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dirty="0">
                <a:solidFill>
                  <a:srgbClr val="000066"/>
                </a:solidFill>
                <a:latin typeface="Roboto"/>
              </a:rPr>
              <a:t>When a </a:t>
            </a:r>
            <a:r>
              <a:rPr lang="en-PH" b="1" dirty="0">
                <a:solidFill>
                  <a:srgbClr val="000066"/>
                </a:solidFill>
                <a:latin typeface="Roboto"/>
              </a:rPr>
              <a:t>crystal of quartz </a:t>
            </a:r>
            <a:r>
              <a:rPr lang="en-PH" dirty="0">
                <a:solidFill>
                  <a:srgbClr val="000066"/>
                </a:solidFill>
                <a:latin typeface="Roboto"/>
              </a:rPr>
              <a:t>is </a:t>
            </a:r>
            <a:r>
              <a:rPr lang="en-PH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properly cut and </a:t>
            </a:r>
            <a:r>
              <a:rPr lang="en-PH" dirty="0" smtClean="0">
                <a:solidFill>
                  <a:schemeClr val="accent2">
                    <a:lumMod val="50000"/>
                  </a:schemeClr>
                </a:solidFill>
                <a:latin typeface="Roboto"/>
              </a:rPr>
              <a:t>mounted </a:t>
            </a:r>
            <a:r>
              <a:rPr lang="en-PH" dirty="0" smtClean="0">
                <a:solidFill>
                  <a:srgbClr val="000066"/>
                </a:solidFill>
                <a:latin typeface="Roboto"/>
              </a:rPr>
              <a:t>(see the figure below), </a:t>
            </a:r>
            <a:r>
              <a:rPr lang="en-PH" dirty="0">
                <a:solidFill>
                  <a:srgbClr val="000066"/>
                </a:solidFill>
                <a:latin typeface="Roboto"/>
              </a:rPr>
              <a:t>it </a:t>
            </a:r>
            <a:r>
              <a:rPr lang="en-PH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can be made to distort in an electric field by applying a voltage to an electrode near or on the crystal</a:t>
            </a:r>
            <a:r>
              <a:rPr lang="en-PH" dirty="0">
                <a:solidFill>
                  <a:srgbClr val="000066"/>
                </a:solidFill>
                <a:latin typeface="Roboto"/>
              </a:rPr>
              <a:t>.</a:t>
            </a:r>
          </a:p>
          <a:p>
            <a:pPr marL="268288" indent="-268288" algn="just">
              <a:lnSpc>
                <a:spcPct val="130000"/>
              </a:lnSpc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dirty="0" smtClean="0">
                <a:solidFill>
                  <a:srgbClr val="000066"/>
                </a:solidFill>
                <a:latin typeface="Roboto"/>
              </a:rPr>
              <a:t>This </a:t>
            </a:r>
            <a:r>
              <a:rPr lang="en-PH" dirty="0">
                <a:solidFill>
                  <a:srgbClr val="000066"/>
                </a:solidFill>
                <a:latin typeface="Roboto"/>
              </a:rPr>
              <a:t>property is known as </a:t>
            </a:r>
            <a:r>
              <a:rPr lang="en-PH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electrostriction</a:t>
            </a:r>
            <a:r>
              <a:rPr lang="en-PH" dirty="0">
                <a:solidFill>
                  <a:srgbClr val="000066"/>
                </a:solidFill>
                <a:latin typeface="Roboto"/>
              </a:rPr>
              <a:t> or </a:t>
            </a:r>
            <a:r>
              <a:rPr lang="en-PH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inverse piezoelectricity</a:t>
            </a:r>
            <a:r>
              <a:rPr lang="en-PH" dirty="0" smtClean="0">
                <a:solidFill>
                  <a:srgbClr val="000066"/>
                </a:solidFill>
                <a:latin typeface="Roboto"/>
              </a:rPr>
              <a:t>.</a:t>
            </a:r>
            <a:endParaRPr lang="en-PH" dirty="0">
              <a:solidFill>
                <a:srgbClr val="000066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81182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Crystal Oscillator: </a:t>
            </a:r>
            <a:r>
              <a:rPr lang="en-PH" sz="2800" b="1" dirty="0" smtClean="0">
                <a:solidFill>
                  <a:schemeClr val="bg1"/>
                </a:solidFill>
                <a:latin typeface="Roboto"/>
              </a:rPr>
              <a:t>Operation</a:t>
            </a:r>
            <a:endParaRPr lang="en-PH" sz="2800" b="1" dirty="0">
              <a:solidFill>
                <a:schemeClr val="bg1"/>
              </a:solidFill>
              <a:latin typeface="Roboto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285998" y="3788499"/>
            <a:ext cx="4572000" cy="2415378"/>
            <a:chOff x="-1008737" y="4177987"/>
            <a:chExt cx="4572000" cy="2415378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l="6364" t="12187" r="8594" b="13616"/>
            <a:stretch/>
          </p:blipFill>
          <p:spPr>
            <a:xfrm>
              <a:off x="-557828" y="4177987"/>
              <a:ext cx="3670677" cy="2160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-1008737" y="6347144"/>
              <a:ext cx="457200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PH" sz="1000" dirty="0">
                  <a:solidFill>
                    <a:srgbClr val="0070C0"/>
                  </a:solidFill>
                  <a:latin typeface="Roboto"/>
                </a:rPr>
                <a:t>Schematic Symbol and Equivalent Circuit for a Quartz Crystal in an Oscillator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531081" y="1715862"/>
            <a:ext cx="8081834" cy="18374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68288" indent="-268288" algn="just">
              <a:lnSpc>
                <a:spcPct val="120000"/>
              </a:lnSpc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dirty="0" smtClean="0">
                <a:solidFill>
                  <a:srgbClr val="000066"/>
                </a:solidFill>
                <a:latin typeface="Roboto"/>
              </a:rPr>
              <a:t>When </a:t>
            </a:r>
            <a:r>
              <a:rPr lang="en-PH" dirty="0">
                <a:solidFill>
                  <a:srgbClr val="000066"/>
                </a:solidFill>
                <a:latin typeface="Roboto"/>
              </a:rPr>
              <a:t>the </a:t>
            </a:r>
            <a:r>
              <a:rPr lang="en-PH" b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field is removed</a:t>
            </a:r>
            <a:r>
              <a:rPr lang="en-PH" dirty="0">
                <a:solidFill>
                  <a:srgbClr val="000066"/>
                </a:solidFill>
                <a:latin typeface="Roboto"/>
              </a:rPr>
              <a:t>, the </a:t>
            </a:r>
            <a:r>
              <a:rPr lang="en-PH" b="1" dirty="0">
                <a:solidFill>
                  <a:srgbClr val="000066"/>
                </a:solidFill>
                <a:latin typeface="Roboto"/>
              </a:rPr>
              <a:t>quartz will generate an electric field</a:t>
            </a:r>
            <a:r>
              <a:rPr lang="en-PH" dirty="0">
                <a:solidFill>
                  <a:srgbClr val="000066"/>
                </a:solidFill>
                <a:latin typeface="Roboto"/>
              </a:rPr>
              <a:t> as it returns to its previous shape, and </a:t>
            </a:r>
            <a:r>
              <a:rPr lang="en-PH" b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this can generate a voltage</a:t>
            </a:r>
            <a:r>
              <a:rPr lang="en-PH" dirty="0">
                <a:solidFill>
                  <a:srgbClr val="000066"/>
                </a:solidFill>
                <a:latin typeface="Roboto"/>
              </a:rPr>
              <a:t>.</a:t>
            </a:r>
          </a:p>
          <a:p>
            <a:pPr marL="268288" indent="-268288" algn="just">
              <a:lnSpc>
                <a:spcPct val="130000"/>
              </a:lnSpc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PH" dirty="0" smtClean="0">
                <a:solidFill>
                  <a:srgbClr val="000066"/>
                </a:solidFill>
                <a:latin typeface="Roboto"/>
              </a:rPr>
              <a:t>The </a:t>
            </a:r>
            <a:r>
              <a:rPr lang="en-PH" b="1" dirty="0">
                <a:solidFill>
                  <a:srgbClr val="000066"/>
                </a:solidFill>
                <a:latin typeface="Roboto"/>
              </a:rPr>
              <a:t>result</a:t>
            </a:r>
            <a:r>
              <a:rPr lang="en-PH" dirty="0">
                <a:solidFill>
                  <a:srgbClr val="000066"/>
                </a:solidFill>
                <a:latin typeface="Roboto"/>
              </a:rPr>
              <a:t> is that a </a:t>
            </a:r>
            <a:r>
              <a:rPr lang="en-PH" b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quartz crystal behaves like a circuit</a:t>
            </a:r>
            <a:r>
              <a:rPr lang="en-PH" dirty="0">
                <a:solidFill>
                  <a:srgbClr val="000066"/>
                </a:solidFill>
                <a:latin typeface="Roboto"/>
              </a:rPr>
              <a:t> </a:t>
            </a:r>
            <a:r>
              <a:rPr lang="en-PH" b="1" dirty="0">
                <a:solidFill>
                  <a:srgbClr val="000066"/>
                </a:solidFill>
                <a:latin typeface="Roboto"/>
              </a:rPr>
              <a:t>composed of an inductor, capacitor and resistor</a:t>
            </a:r>
            <a:r>
              <a:rPr lang="en-PH" dirty="0">
                <a:solidFill>
                  <a:srgbClr val="000066"/>
                </a:solidFill>
                <a:latin typeface="Roboto"/>
              </a:rPr>
              <a:t>, </a:t>
            </a:r>
            <a:r>
              <a:rPr lang="en-PH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with a precise resonant frequency</a:t>
            </a:r>
            <a:r>
              <a:rPr lang="en-PH" dirty="0">
                <a:solidFill>
                  <a:srgbClr val="000066"/>
                </a:solidFill>
                <a:latin typeface="Roboto"/>
              </a:rPr>
              <a:t> </a:t>
            </a:r>
            <a:r>
              <a:rPr lang="en-PH" dirty="0" smtClean="0">
                <a:solidFill>
                  <a:srgbClr val="000066"/>
                </a:solidFill>
                <a:latin typeface="Roboto"/>
              </a:rPr>
              <a:t>(see the RLC </a:t>
            </a:r>
            <a:r>
              <a:rPr lang="en-PH" dirty="0">
                <a:solidFill>
                  <a:srgbClr val="000066"/>
                </a:solidFill>
                <a:latin typeface="Roboto"/>
              </a:rPr>
              <a:t>circuit in </a:t>
            </a:r>
            <a:r>
              <a:rPr lang="en-PH" dirty="0" smtClean="0">
                <a:solidFill>
                  <a:srgbClr val="000066"/>
                </a:solidFill>
                <a:latin typeface="Roboto"/>
              </a:rPr>
              <a:t>the figure below).</a:t>
            </a:r>
            <a:endParaRPr lang="en-PH" dirty="0">
              <a:solidFill>
                <a:srgbClr val="000066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29382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ASYNC (Ready Synchronization Select)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grpSp>
        <p:nvGrpSpPr>
          <p:cNvPr id="3" name="Group 2"/>
          <p:cNvGrpSpPr>
            <a:grpSpLocks noChangeAspect="1"/>
          </p:cNvGrpSpPr>
          <p:nvPr/>
        </p:nvGrpSpPr>
        <p:grpSpPr bwMode="auto">
          <a:xfrm>
            <a:off x="5788742" y="1669026"/>
            <a:ext cx="2863636" cy="4500000"/>
            <a:chOff x="4572000" y="1447800"/>
            <a:chExt cx="4114800" cy="4648200"/>
          </a:xfrm>
        </p:grpSpPr>
        <p:pic>
          <p:nvPicPr>
            <p:cNvPr id="5" name="Picture 4" descr="pin dia 8284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447800"/>
              <a:ext cx="4114800" cy="46482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6" name="Oval 5"/>
            <p:cNvSpPr/>
            <p:nvPr/>
          </p:nvSpPr>
          <p:spPr>
            <a:xfrm>
              <a:off x="6629400" y="2970790"/>
              <a:ext cx="1677761" cy="53554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634182" y="1909069"/>
            <a:ext cx="4792034" cy="378565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  <a:latin typeface="Roboto"/>
              </a:rPr>
              <a:t>Selects either one or two stages of synchronization for the RDY1 and RDY2 inputs</a:t>
            </a: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  <a:latin typeface="Roboto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An active </a:t>
            </a:r>
            <a:r>
              <a:rPr lang="en-US" altLang="en-US" sz="2000" dirty="0" smtClean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low signal used </a:t>
            </a: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for devices that are not able to adhere to the very strict RDY setup time requirement.</a:t>
            </a:r>
          </a:p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  <a:latin typeface="Roboto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In the IBM PC, this is connected to low, making the timing design of the system easier with slower logic gates.</a:t>
            </a:r>
            <a:endParaRPr lang="en-PH" sz="2000" dirty="0">
              <a:solidFill>
                <a:srgbClr val="000066"/>
              </a:solidFill>
              <a:latin typeface="Roboto"/>
            </a:endParaRPr>
          </a:p>
        </p:txBody>
      </p:sp>
      <p:cxnSp>
        <p:nvCxnSpPr>
          <p:cNvPr id="8" name="Straight Connector 7"/>
          <p:cNvCxnSpPr/>
          <p:nvPr/>
        </p:nvCxnSpPr>
        <p:spPr bwMode="auto">
          <a:xfrm>
            <a:off x="1240705" y="663318"/>
            <a:ext cx="1224000" cy="0"/>
          </a:xfrm>
          <a:prstGeom prst="line">
            <a:avLst/>
          </a:prstGeom>
          <a:ln>
            <a:solidFill>
              <a:srgbClr val="000066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34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EFI (External Frequency Input)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5764160" y="1619865"/>
            <a:ext cx="2863636" cy="4500000"/>
            <a:chOff x="4572000" y="1447800"/>
            <a:chExt cx="4114800" cy="4648200"/>
          </a:xfrm>
        </p:grpSpPr>
        <p:pic>
          <p:nvPicPr>
            <p:cNvPr id="6" name="Picture 5" descr="pin dia 8284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447800"/>
              <a:ext cx="4114800" cy="46482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7" name="Oval 6"/>
            <p:cNvSpPr/>
            <p:nvPr/>
          </p:nvSpPr>
          <p:spPr>
            <a:xfrm>
              <a:off x="6782481" y="3506331"/>
              <a:ext cx="1143000" cy="30371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98091" y="2020841"/>
            <a:ext cx="4822722" cy="3477875"/>
            <a:chOff x="698091" y="2020841"/>
            <a:chExt cx="4822722" cy="3477875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698091" y="2020841"/>
              <a:ext cx="4822722" cy="3477875"/>
            </a:xfrm>
            <a:prstGeom prst="rect">
              <a:avLst/>
            </a:prstGeom>
            <a:grpFill/>
            <a:ln>
              <a:solidFill>
                <a:schemeClr val="accent4"/>
              </a:solidFill>
            </a:ln>
          </p:spPr>
          <p:txBody>
            <a:bodyPr wrap="square">
              <a:spAutoFit/>
            </a:bodyPr>
            <a:lstStyle/>
            <a:p>
              <a:pPr marL="265113" indent="-265113" algn="just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solidFill>
                    <a:srgbClr val="000066"/>
                  </a:solidFill>
                  <a:latin typeface="Roboto"/>
                  <a:cs typeface="Times New Roman" panose="02020603050405020304" pitchFamily="18" charset="0"/>
                </a:rPr>
                <a:t>External frequency is connected to this pin if F/C has been connected to high.</a:t>
              </a:r>
            </a:p>
            <a:p>
              <a:pPr marL="265113" indent="-265113" algn="just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endPara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endParaRPr>
            </a:p>
            <a:p>
              <a:pPr marL="265113" indent="-265113" algn="just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solidFill>
                    <a:srgbClr val="000066"/>
                  </a:solidFill>
                  <a:latin typeface="Roboto"/>
                  <a:cs typeface="Times New Roman" panose="02020603050405020304" pitchFamily="18" charset="0"/>
                </a:rPr>
                <a:t>In the IBM PC, this is not connected since a crystal is used instead of an external frequency generator.</a:t>
              </a:r>
            </a:p>
            <a:p>
              <a:pPr marL="265113" indent="-265113" algn="just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endPara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endParaRPr>
            </a:p>
            <a:p>
              <a:pPr marL="265113" indent="-265113" algn="just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solidFill>
                    <a:srgbClr val="000066"/>
                  </a:solidFill>
                  <a:latin typeface="Roboto"/>
                  <a:cs typeface="Times New Roman" panose="02020603050405020304" pitchFamily="18" charset="0"/>
                </a:rPr>
                <a:t>In some cases (such as the Turbo PC), this pin is used to provide clock frequency in place of XI and X2.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897877" y="2400147"/>
              <a:ext cx="180000" cy="0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8248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F/C (Frequency/Crystal Select)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2337366" y="703007"/>
            <a:ext cx="180000" cy="0"/>
          </a:xfrm>
          <a:prstGeom prst="line">
            <a:avLst/>
          </a:prstGeom>
          <a:ln>
            <a:solidFill>
              <a:srgbClr val="000066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" name="Group 5"/>
          <p:cNvGrpSpPr>
            <a:grpSpLocks noChangeAspect="1"/>
          </p:cNvGrpSpPr>
          <p:nvPr/>
        </p:nvGrpSpPr>
        <p:grpSpPr bwMode="auto">
          <a:xfrm>
            <a:off x="5717456" y="1619866"/>
            <a:ext cx="2863636" cy="4500000"/>
            <a:chOff x="4572000" y="1447800"/>
            <a:chExt cx="4114800" cy="4648200"/>
          </a:xfrm>
        </p:grpSpPr>
        <p:pic>
          <p:nvPicPr>
            <p:cNvPr id="7" name="Picture 6" descr="pin dia 8284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447800"/>
              <a:ext cx="4114800" cy="46482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8" name="Oval 7"/>
            <p:cNvSpPr/>
            <p:nvPr/>
          </p:nvSpPr>
          <p:spPr>
            <a:xfrm>
              <a:off x="6704920" y="3886344"/>
              <a:ext cx="1449161" cy="45631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Rectangle 2"/>
          <p:cNvSpPr/>
          <p:nvPr/>
        </p:nvSpPr>
        <p:spPr>
          <a:xfrm>
            <a:off x="725556" y="1678858"/>
            <a:ext cx="4572000" cy="42473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>
            <a:spAutoFit/>
          </a:bodyPr>
          <a:lstStyle/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This pin </a:t>
            </a:r>
            <a:r>
              <a:rPr lang="en-US" altLang="en-US" sz="2000" b="1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provides an option for the way</a:t>
            </a: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 the 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clock is generated</a:t>
            </a: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  <a:latin typeface="Roboto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If connected to low</a:t>
            </a: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, the clock is generated by the 8284 with the help of a 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crystal oscillator</a:t>
            </a: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  <a:latin typeface="Roboto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If </a:t>
            </a:r>
            <a:r>
              <a:rPr lang="en-US" altLang="en-US" sz="2000" b="1" dirty="0" smtClean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connected </a:t>
            </a:r>
            <a:r>
              <a:rPr lang="en-US" altLang="en-US" sz="2000" b="1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to high</a:t>
            </a: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, it expects to receive clocks at the 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EFI pin</a:t>
            </a: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  <a:latin typeface="Roboto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Since the IBM PC uses a crystal, this pin is connected to low.</a:t>
            </a:r>
          </a:p>
        </p:txBody>
      </p:sp>
    </p:spTree>
    <p:extLst>
      <p:ext uri="{BB962C8B-B14F-4D97-AF65-F5344CB8AC3E}">
        <p14:creationId xmlns:p14="http://schemas.microsoft.com/office/powerpoint/2010/main" val="2930637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RES (Reset Input)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3082157" y="687134"/>
            <a:ext cx="684000" cy="0"/>
          </a:xfrm>
          <a:prstGeom prst="line">
            <a:avLst/>
          </a:prstGeom>
          <a:ln>
            <a:solidFill>
              <a:srgbClr val="000066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" name="Group 5"/>
          <p:cNvGrpSpPr>
            <a:grpSpLocks noChangeAspect="1"/>
          </p:cNvGrpSpPr>
          <p:nvPr/>
        </p:nvGrpSpPr>
        <p:grpSpPr bwMode="auto">
          <a:xfrm>
            <a:off x="5954713" y="1600201"/>
            <a:ext cx="2863636" cy="4500000"/>
            <a:chOff x="4572000" y="1447800"/>
            <a:chExt cx="4114800" cy="4648200"/>
          </a:xfrm>
        </p:grpSpPr>
        <p:pic>
          <p:nvPicPr>
            <p:cNvPr id="7" name="Picture 6" descr="pin dia 8284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447800"/>
              <a:ext cx="4114800" cy="46482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8" name="Oval 7"/>
            <p:cNvSpPr/>
            <p:nvPr/>
          </p:nvSpPr>
          <p:spPr>
            <a:xfrm>
              <a:off x="6629400" y="4800432"/>
              <a:ext cx="1524681" cy="38001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Rectangle 2"/>
          <p:cNvSpPr/>
          <p:nvPr/>
        </p:nvSpPr>
        <p:spPr>
          <a:xfrm>
            <a:off x="496955" y="1735777"/>
            <a:ext cx="5226808" cy="37240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65113" indent="-265113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This is </a:t>
            </a:r>
            <a:r>
              <a:rPr lang="en-US" altLang="en-US" b="1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an active-low input signal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 to </a:t>
            </a:r>
            <a:r>
              <a:rPr lang="en-US" altLang="en-US" b="1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generate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RESET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.</a:t>
            </a:r>
          </a:p>
          <a:p>
            <a:pPr marL="265113" indent="-265113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dirty="0" smtClean="0">
              <a:solidFill>
                <a:srgbClr val="000066"/>
              </a:solidFill>
              <a:latin typeface="Roboto"/>
              <a:cs typeface="Times New Roman" panose="02020603050405020304" pitchFamily="18" charset="0"/>
            </a:endParaRPr>
          </a:p>
          <a:p>
            <a:pPr marL="265113" indent="-265113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The 8284A 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provides a trigger input so that an </a:t>
            </a:r>
            <a:r>
              <a:rPr lang="en-US" altLang="en-US" b="1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RC connection 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can be used to establish the </a:t>
            </a:r>
            <a:r>
              <a:rPr lang="en-US" altLang="en-US" b="1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power-up reset 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of proper duration.</a:t>
            </a:r>
          </a:p>
          <a:p>
            <a:pPr marL="265113" indent="-265113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dirty="0">
              <a:solidFill>
                <a:srgbClr val="000066"/>
              </a:solidFill>
              <a:latin typeface="Roboto"/>
              <a:cs typeface="Times New Roman" panose="02020603050405020304" pitchFamily="18" charset="0"/>
            </a:endParaRPr>
          </a:p>
          <a:p>
            <a:pPr marL="265113" indent="-265113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A low signal is provided to this pin and the 8284 in turn will activate the RESET pin forcing the 8086/8088 </a:t>
            </a:r>
            <a:r>
              <a:rPr lang="en-US" altLang="en-US" dirty="0" smtClean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microprocessor 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to reset; then the microprocessor takes over. This is called a </a:t>
            </a:r>
            <a:r>
              <a:rPr lang="en-US" altLang="en-US" b="1" i="1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cold boot.</a:t>
            </a:r>
            <a:endParaRPr lang="en-US" altLang="en-US" b="1" dirty="0">
              <a:solidFill>
                <a:srgbClr val="000066"/>
              </a:solidFill>
              <a:latin typeface="Roboto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209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Output Pins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356416" y="1627238"/>
            <a:ext cx="8421328" cy="4572000"/>
            <a:chOff x="258096" y="1371600"/>
            <a:chExt cx="8421328" cy="4572000"/>
          </a:xfrm>
        </p:grpSpPr>
        <p:sp>
          <p:nvSpPr>
            <p:cNvPr id="39" name="Content Placeholder 2"/>
            <p:cNvSpPr txBox="1">
              <a:spLocks/>
            </p:cNvSpPr>
            <p:nvPr/>
          </p:nvSpPr>
          <p:spPr bwMode="auto">
            <a:xfrm>
              <a:off x="258096" y="1991032"/>
              <a:ext cx="2438400" cy="2819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/>
          </p:spPr>
          <p:txBody>
            <a:bodyPr/>
            <a:lstStyle>
              <a:lvl1pPr marL="273050" indent="-273050" eaLnBrk="0" hangingPunct="0"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1pPr>
              <a:lvl2pPr marL="742950" indent="-285750" eaLnBrk="0" hangingPunct="0"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2pPr>
              <a:lvl3pPr marL="1143000" indent="-228600" eaLnBrk="0" hangingPunct="0"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3pPr>
              <a:lvl4pPr marL="1600200" indent="-228600" eaLnBrk="0" hangingPunct="0"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4pPr>
              <a:lvl5pPr marL="2057400" indent="-228600" eaLnBrk="0" hangingPunct="0"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¡"/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¡"/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¡"/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¡"/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buClr>
                  <a:schemeClr val="accent1"/>
                </a:buClr>
                <a:buFont typeface="Arial" charset="0"/>
                <a:buNone/>
                <a:defRPr/>
              </a:pPr>
              <a:r>
                <a:rPr lang="en-US" sz="20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PCLK(peripheral clock)</a:t>
              </a:r>
            </a:p>
            <a:p>
              <a:pPr marL="465138" indent="-233363" eaLnBrk="1" hangingPunct="1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lang="en-US" sz="20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pin#2</a:t>
              </a:r>
            </a:p>
            <a:p>
              <a:pPr eaLnBrk="1" hangingPunct="1">
                <a:spcBef>
                  <a:spcPts val="600"/>
                </a:spcBef>
                <a:buClr>
                  <a:schemeClr val="accent1"/>
                </a:buClr>
                <a:buFont typeface="Wingdings" panose="05000000000000000000" pitchFamily="2" charset="2"/>
                <a:buNone/>
                <a:defRPr/>
              </a:pPr>
              <a:r>
                <a:rPr lang="en-US" sz="20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Ready</a:t>
              </a:r>
            </a:p>
            <a:p>
              <a:pPr marL="465138" indent="-233363" eaLnBrk="1" hangingPunct="1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lang="en-US" sz="20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pin#5</a:t>
              </a:r>
            </a:p>
            <a:p>
              <a:pPr eaLnBrk="1" hangingPunct="1">
                <a:spcBef>
                  <a:spcPts val="600"/>
                </a:spcBef>
                <a:buClr>
                  <a:schemeClr val="accent1"/>
                </a:buClr>
                <a:buFont typeface="Arial" charset="0"/>
                <a:buNone/>
                <a:defRPr/>
              </a:pPr>
              <a:r>
                <a:rPr lang="en-US" sz="20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CLK(clock)</a:t>
              </a:r>
            </a:p>
            <a:p>
              <a:pPr marL="465138" indent="-233363" eaLnBrk="1" hangingPunct="1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lang="en-US" sz="20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pin#8</a:t>
              </a:r>
            </a:p>
          </p:txBody>
        </p:sp>
        <p:grpSp>
          <p:nvGrpSpPr>
            <p:cNvPr id="40" name="Group 7"/>
            <p:cNvGrpSpPr>
              <a:grpSpLocks/>
            </p:cNvGrpSpPr>
            <p:nvPr/>
          </p:nvGrpSpPr>
          <p:grpSpPr bwMode="auto">
            <a:xfrm>
              <a:off x="2895600" y="1371600"/>
              <a:ext cx="3200400" cy="4572000"/>
              <a:chOff x="4572000" y="1447800"/>
              <a:chExt cx="4114800" cy="4648200"/>
            </a:xfrm>
          </p:grpSpPr>
          <p:pic>
            <p:nvPicPr>
              <p:cNvPr id="49" name="Picture 48" descr="pin dia 8284.pn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572000" y="1447800"/>
                <a:ext cx="4114800" cy="4648200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sp>
            <p:nvSpPr>
              <p:cNvPr id="50" name="Oval 49"/>
              <p:cNvSpPr/>
              <p:nvPr/>
            </p:nvSpPr>
            <p:spPr>
              <a:xfrm>
                <a:off x="6629400" y="5180886"/>
                <a:ext cx="1828800" cy="45836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6553881" y="4343241"/>
                <a:ext cx="1675719" cy="45675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4953681" y="4799992"/>
                <a:ext cx="1294039" cy="380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4725081" y="2133733"/>
                <a:ext cx="1600200" cy="456750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4572000" y="3429741"/>
                <a:ext cx="1753281" cy="45675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41" name="Content Placeholder 2"/>
            <p:cNvSpPr txBox="1">
              <a:spLocks/>
            </p:cNvSpPr>
            <p:nvPr/>
          </p:nvSpPr>
          <p:spPr bwMode="auto">
            <a:xfrm>
              <a:off x="6241024" y="2133600"/>
              <a:ext cx="2438400" cy="2743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/>
          </p:spPr>
          <p:txBody>
            <a:bodyPr/>
            <a:lstStyle>
              <a:lvl1pPr marL="273050" indent="-273050" eaLnBrk="0" hangingPunct="0"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1pPr>
              <a:lvl2pPr marL="742950" indent="-285750" eaLnBrk="0" hangingPunct="0"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2pPr>
              <a:lvl3pPr marL="1143000" indent="-228600" eaLnBrk="0" hangingPunct="0"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3pPr>
              <a:lvl4pPr marL="1600200" indent="-228600" eaLnBrk="0" hangingPunct="0"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4pPr>
              <a:lvl5pPr marL="2057400" indent="-228600" eaLnBrk="0" hangingPunct="0"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¡"/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¡"/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¡"/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¡"/>
                <a:defRPr sz="3000">
                  <a:solidFill>
                    <a:schemeClr val="hlink"/>
                  </a:solidFill>
                  <a:latin typeface="Century Gothic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buClr>
                  <a:schemeClr val="accent1"/>
                </a:buClr>
                <a:buFont typeface="Arial" charset="0"/>
                <a:buNone/>
                <a:defRPr/>
              </a:pPr>
              <a:r>
                <a:rPr lang="en-US" sz="20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OSC(Oscillator)</a:t>
              </a:r>
            </a:p>
            <a:p>
              <a:pPr marL="465138" indent="-233363" eaLnBrk="1" hangingPunct="1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lang="en-US" sz="20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pin#12</a:t>
              </a:r>
            </a:p>
            <a:p>
              <a:pPr eaLnBrk="1" hangingPunct="1">
                <a:spcBef>
                  <a:spcPts val="600"/>
                </a:spcBef>
                <a:buClr>
                  <a:schemeClr val="accent1"/>
                </a:buClr>
                <a:buFont typeface="Arial" charset="0"/>
                <a:buNone/>
                <a:defRPr/>
              </a:pPr>
              <a:endParaRPr lang="en-US" sz="2000" dirty="0" smtClean="0">
                <a:solidFill>
                  <a:srgbClr val="000066"/>
                </a:solidFill>
                <a:latin typeface="Roboto"/>
                <a:cs typeface="Times New Roman" pitchFamily="18" charset="0"/>
              </a:endParaRPr>
            </a:p>
            <a:p>
              <a:pPr eaLnBrk="1" hangingPunct="1">
                <a:spcBef>
                  <a:spcPts val="600"/>
                </a:spcBef>
                <a:buClr>
                  <a:schemeClr val="accent1"/>
                </a:buClr>
                <a:buFont typeface="Arial" charset="0"/>
                <a:buNone/>
                <a:defRPr/>
              </a:pPr>
              <a:r>
                <a:rPr lang="en-US" sz="20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Reset</a:t>
              </a:r>
            </a:p>
            <a:p>
              <a:pPr marL="465138" indent="-233363" eaLnBrk="1" hangingPunct="1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lang="en-US" sz="2000" dirty="0" smtClean="0">
                  <a:solidFill>
                    <a:srgbClr val="000066"/>
                  </a:solidFill>
                  <a:latin typeface="Roboto"/>
                  <a:cs typeface="Times New Roman" pitchFamily="18" charset="0"/>
                </a:rPr>
                <a:t>pin#10</a:t>
              </a:r>
            </a:p>
          </p:txBody>
        </p:sp>
        <p:grpSp>
          <p:nvGrpSpPr>
            <p:cNvPr id="42" name="Group 15"/>
            <p:cNvGrpSpPr>
              <a:grpSpLocks/>
            </p:cNvGrpSpPr>
            <p:nvPr/>
          </p:nvGrpSpPr>
          <p:grpSpPr bwMode="auto">
            <a:xfrm>
              <a:off x="1447800" y="2271713"/>
              <a:ext cx="1744663" cy="2528887"/>
              <a:chOff x="1447800" y="2270919"/>
              <a:chExt cx="1744663" cy="2529681"/>
            </a:xfrm>
          </p:grpSpPr>
          <p:cxnSp>
            <p:nvCxnSpPr>
              <p:cNvPr id="46" name="Straight Arrow Connector 45"/>
              <p:cNvCxnSpPr>
                <a:endCxn id="53" idx="2"/>
              </p:cNvCxnSpPr>
              <p:nvPr/>
            </p:nvCxnSpPr>
            <p:spPr>
              <a:xfrm flipV="1">
                <a:off x="1600200" y="2270919"/>
                <a:ext cx="1414463" cy="624083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/>
              <p:cNvCxnSpPr>
                <a:endCxn id="54" idx="2"/>
              </p:cNvCxnSpPr>
              <p:nvPr/>
            </p:nvCxnSpPr>
            <p:spPr>
              <a:xfrm flipV="1">
                <a:off x="1600200" y="3546081"/>
                <a:ext cx="1295400" cy="111160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/>
              <p:nvPr/>
            </p:nvCxnSpPr>
            <p:spPr>
              <a:xfrm>
                <a:off x="1447800" y="4444888"/>
                <a:ext cx="1744663" cy="355712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Group 23"/>
            <p:cNvGrpSpPr>
              <a:grpSpLocks/>
            </p:cNvGrpSpPr>
            <p:nvPr/>
          </p:nvGrpSpPr>
          <p:grpSpPr bwMode="auto">
            <a:xfrm>
              <a:off x="5334000" y="2743200"/>
              <a:ext cx="1219200" cy="2366963"/>
              <a:chOff x="5334000" y="2743200"/>
              <a:chExt cx="1219200" cy="2366309"/>
            </a:xfrm>
          </p:grpSpPr>
          <p:cxnSp>
            <p:nvCxnSpPr>
              <p:cNvPr id="44" name="Straight Arrow Connector 43"/>
              <p:cNvCxnSpPr/>
              <p:nvPr/>
            </p:nvCxnSpPr>
            <p:spPr>
              <a:xfrm flipH="1">
                <a:off x="5334000" y="2743200"/>
                <a:ext cx="1219200" cy="1475970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>
                <a:endCxn id="50" idx="7"/>
              </p:cNvCxnSpPr>
              <p:nvPr/>
            </p:nvCxnSpPr>
            <p:spPr>
              <a:xfrm flipH="1">
                <a:off x="5710238" y="3919213"/>
                <a:ext cx="842962" cy="1190296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15962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RESET Output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5808406" y="1678857"/>
            <a:ext cx="2863636" cy="4500000"/>
            <a:chOff x="4572000" y="1447800"/>
            <a:chExt cx="4114800" cy="4648200"/>
          </a:xfrm>
        </p:grpSpPr>
        <p:pic>
          <p:nvPicPr>
            <p:cNvPr id="6" name="Picture 5" descr="pin dia 8284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447800"/>
              <a:ext cx="4114800" cy="46482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7" name="Oval 6"/>
            <p:cNvSpPr/>
            <p:nvPr/>
          </p:nvSpPr>
          <p:spPr>
            <a:xfrm>
              <a:off x="6704920" y="5181913"/>
              <a:ext cx="1600200" cy="53260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73508" y="1875973"/>
            <a:ext cx="4665407" cy="2092881"/>
            <a:chOff x="673508" y="2416747"/>
            <a:chExt cx="4665407" cy="2092881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673508" y="2416747"/>
              <a:ext cx="4665407" cy="2092881"/>
            </a:xfrm>
            <a:prstGeom prst="rect">
              <a:avLst/>
            </a:prstGeom>
            <a:grpFill/>
            <a:ln>
              <a:solidFill>
                <a:schemeClr val="accent4"/>
              </a:solidFill>
            </a:ln>
          </p:spPr>
          <p:txBody>
            <a:bodyPr wrap="square">
              <a:spAutoFit/>
            </a:bodyPr>
            <a:lstStyle/>
            <a:p>
              <a:pPr marL="265113" indent="-265113" algn="just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solidFill>
                    <a:srgbClr val="000066"/>
                  </a:solidFill>
                  <a:latin typeface="Roboto"/>
                  <a:cs typeface="Times New Roman" panose="02020603050405020304" pitchFamily="18" charset="0"/>
                </a:rPr>
                <a:t>This is an active-high output signal that provides a RESET signal to the 8086/8088 µP.</a:t>
              </a:r>
            </a:p>
            <a:p>
              <a:pPr marL="265113" indent="-265113" algn="just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endPara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endParaRPr>
            </a:p>
            <a:p>
              <a:pPr marL="265113" indent="-265113" algn="just">
                <a:spcBef>
                  <a:spcPts val="600"/>
                </a:spcBef>
                <a:buClr>
                  <a:schemeClr val="accent2">
                    <a:lumMod val="50000"/>
                  </a:schemeClr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solidFill>
                    <a:srgbClr val="000066"/>
                  </a:solidFill>
                  <a:latin typeface="Roboto"/>
                  <a:cs typeface="Times New Roman" panose="02020603050405020304" pitchFamily="18" charset="0"/>
                </a:rPr>
                <a:t>It is activated by the RES input signal discussed earlier.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3333032" y="3819832"/>
              <a:ext cx="547687" cy="0"/>
            </a:xfrm>
            <a:prstGeom prst="line">
              <a:avLst/>
            </a:prstGeom>
            <a:ln>
              <a:solidFill>
                <a:srgbClr val="000066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94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Oscillator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grpSp>
        <p:nvGrpSpPr>
          <p:cNvPr id="5" name="Group 3"/>
          <p:cNvGrpSpPr>
            <a:grpSpLocks noChangeAspect="1"/>
          </p:cNvGrpSpPr>
          <p:nvPr/>
        </p:nvGrpSpPr>
        <p:grpSpPr bwMode="auto">
          <a:xfrm>
            <a:off x="5742038" y="1666567"/>
            <a:ext cx="2863636" cy="4500000"/>
            <a:chOff x="4572000" y="1447800"/>
            <a:chExt cx="4114800" cy="4648200"/>
          </a:xfrm>
        </p:grpSpPr>
        <p:pic>
          <p:nvPicPr>
            <p:cNvPr id="6" name="Picture 5" descr="pin dia 8284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447800"/>
              <a:ext cx="4114800" cy="46482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7" name="Oval 6"/>
            <p:cNvSpPr/>
            <p:nvPr/>
          </p:nvSpPr>
          <p:spPr>
            <a:xfrm>
              <a:off x="6629400" y="4267825"/>
              <a:ext cx="1447120" cy="53260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Rectangle 2"/>
          <p:cNvSpPr/>
          <p:nvPr/>
        </p:nvSpPr>
        <p:spPr>
          <a:xfrm>
            <a:off x="707923" y="2003019"/>
            <a:ext cx="4812890" cy="24006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65113" indent="-265113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  <a:latin typeface="Roboto"/>
              </a:rPr>
              <a:t>It is a TTL-level signal that is at the 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same frequency as the crystal or EFI input</a:t>
            </a:r>
            <a:r>
              <a:rPr lang="en-US" altLang="en-US" sz="2000" dirty="0">
                <a:solidFill>
                  <a:srgbClr val="000066"/>
                </a:solidFill>
                <a:latin typeface="Roboto"/>
              </a:rPr>
              <a:t>. </a:t>
            </a:r>
          </a:p>
          <a:p>
            <a:pPr marL="265113" indent="-265113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  <a:latin typeface="Roboto"/>
            </a:endParaRPr>
          </a:p>
          <a:p>
            <a:pPr marL="265113" indent="-265113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  <a:latin typeface="Roboto"/>
              </a:rPr>
              <a:t>It </a:t>
            </a:r>
            <a:r>
              <a:rPr lang="en-US" altLang="en-US" sz="2000" i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provides an EFI input to the other 8284A clock generators</a:t>
            </a:r>
            <a:r>
              <a:rPr lang="en-US" altLang="en-US" sz="2000" dirty="0">
                <a:solidFill>
                  <a:srgbClr val="000066"/>
                </a:solidFill>
                <a:latin typeface="Roboto"/>
              </a:rPr>
              <a:t> that are used in some multiprocessor systems.</a:t>
            </a:r>
            <a:endParaRPr lang="en-PH" sz="2000" dirty="0">
              <a:solidFill>
                <a:srgbClr val="000066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9636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CLK (Clock)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5941140" y="1646904"/>
            <a:ext cx="2863636" cy="4500000"/>
            <a:chOff x="4572000" y="1447800"/>
            <a:chExt cx="4114800" cy="4648200"/>
          </a:xfrm>
        </p:grpSpPr>
        <p:pic>
          <p:nvPicPr>
            <p:cNvPr id="6" name="Picture 5" descr="pin dia 8284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447800"/>
              <a:ext cx="4114800" cy="46482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7" name="Oval 6"/>
            <p:cNvSpPr/>
            <p:nvPr/>
          </p:nvSpPr>
          <p:spPr>
            <a:xfrm>
              <a:off x="4878161" y="4724136"/>
              <a:ext cx="1445079" cy="53407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Rectangle 2"/>
          <p:cNvSpPr/>
          <p:nvPr/>
        </p:nvSpPr>
        <p:spPr>
          <a:xfrm>
            <a:off x="540773" y="1911745"/>
            <a:ext cx="5132439" cy="3416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000066"/>
                </a:solidFill>
                <a:latin typeface="Roboto"/>
                <a:cs typeface="Times New Roman" pitchFamily="18" charset="0"/>
              </a:rPr>
              <a:t>This is an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itchFamily="18" charset="0"/>
              </a:rPr>
              <a:t>output clock frequency</a:t>
            </a:r>
            <a:r>
              <a:rPr lang="en-US" dirty="0">
                <a:solidFill>
                  <a:srgbClr val="000066"/>
                </a:solidFill>
                <a:latin typeface="Roboto"/>
                <a:cs typeface="Times New Roman" pitchFamily="18" charset="0"/>
              </a:rPr>
              <a:t> equal to </a:t>
            </a:r>
            <a:r>
              <a:rPr lang="en-US" b="1" dirty="0">
                <a:solidFill>
                  <a:srgbClr val="000066"/>
                </a:solidFill>
                <a:latin typeface="Roboto"/>
                <a:cs typeface="Times New Roman" pitchFamily="18" charset="0"/>
              </a:rPr>
              <a:t>one-third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itchFamily="18" charset="0"/>
              </a:rPr>
              <a:t> of the crystal oscillator, or EFI input frequency</a:t>
            </a:r>
            <a:r>
              <a:rPr lang="en-US" dirty="0">
                <a:solidFill>
                  <a:srgbClr val="000066"/>
                </a:solidFill>
                <a:latin typeface="Roboto"/>
                <a:cs typeface="Times New Roman" pitchFamily="18" charset="0"/>
              </a:rPr>
              <a:t>, with a duty cycle of 33%. </a:t>
            </a:r>
            <a:endParaRPr lang="en-US" dirty="0" smtClean="0">
              <a:solidFill>
                <a:srgbClr val="000066"/>
              </a:solidFill>
              <a:latin typeface="Roboto"/>
              <a:cs typeface="Times New Roman" pitchFamily="18" charset="0"/>
            </a:endParaRPr>
          </a:p>
          <a:p>
            <a:pPr marL="285750" indent="-285750" algn="just"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000066"/>
              </a:solidFill>
              <a:latin typeface="Roboto"/>
              <a:cs typeface="Times New Roman" pitchFamily="18" charset="0"/>
            </a:endParaRPr>
          </a:p>
          <a:p>
            <a:pPr marL="285750" indent="-285750" algn="just"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solidFill>
                  <a:srgbClr val="000066"/>
                </a:solidFill>
                <a:latin typeface="Roboto"/>
                <a:cs typeface="Times New Roman" pitchFamily="18" charset="0"/>
              </a:rPr>
              <a:t>This </a:t>
            </a:r>
            <a:r>
              <a:rPr lang="en-US" dirty="0">
                <a:solidFill>
                  <a:srgbClr val="000066"/>
                </a:solidFill>
                <a:latin typeface="Roboto"/>
                <a:cs typeface="Times New Roman" pitchFamily="18" charset="0"/>
              </a:rPr>
              <a:t>is connected to the clock input of </a:t>
            </a:r>
            <a:r>
              <a:rPr lang="en-US" dirty="0" smtClean="0">
                <a:solidFill>
                  <a:srgbClr val="000066"/>
                </a:solidFill>
                <a:latin typeface="Roboto"/>
                <a:cs typeface="Times New Roman" pitchFamily="18" charset="0"/>
              </a:rPr>
              <a:t>the </a:t>
            </a:r>
            <a:r>
              <a:rPr lang="en-US" dirty="0">
                <a:solidFill>
                  <a:srgbClr val="000066"/>
                </a:solidFill>
                <a:latin typeface="Roboto"/>
                <a:cs typeface="Times New Roman" pitchFamily="18" charset="0"/>
              </a:rPr>
              <a:t>8086/8088 µP and all other devices that must be synchronized with the CPU.</a:t>
            </a:r>
          </a:p>
          <a:p>
            <a:pPr marL="285750" indent="-285750" algn="just"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000066"/>
              </a:solidFill>
              <a:latin typeface="Roboto"/>
              <a:cs typeface="Times New Roman" pitchFamily="18" charset="0"/>
            </a:endParaRPr>
          </a:p>
          <a:p>
            <a:pPr marL="285750" indent="-285750" algn="just"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solidFill>
                  <a:srgbClr val="000066"/>
                </a:solidFill>
                <a:latin typeface="Roboto"/>
                <a:cs typeface="Times New Roman" pitchFamily="18" charset="0"/>
              </a:rPr>
              <a:t>This frequency</a:t>
            </a:r>
            <a:r>
              <a:rPr lang="en-US" dirty="0">
                <a:solidFill>
                  <a:srgbClr val="000066"/>
                </a:solidFill>
                <a:latin typeface="Roboto"/>
                <a:cs typeface="Times New Roman" pitchFamily="18" charset="0"/>
              </a:rPr>
              <a:t>, </a:t>
            </a:r>
            <a:r>
              <a:rPr lang="en-US" b="1" dirty="0">
                <a:solidFill>
                  <a:srgbClr val="000066"/>
                </a:solidFill>
                <a:latin typeface="Roboto"/>
                <a:cs typeface="Times New Roman" pitchFamily="18" charset="0"/>
              </a:rPr>
              <a:t>4.772776 MHz</a:t>
            </a:r>
            <a:r>
              <a:rPr lang="en-US" dirty="0">
                <a:solidFill>
                  <a:srgbClr val="000066"/>
                </a:solidFill>
                <a:latin typeface="Roboto"/>
                <a:cs typeface="Times New Roman" pitchFamily="18" charset="0"/>
              </a:rPr>
              <a:t> (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itchFamily="18" charset="0"/>
              </a:rPr>
              <a:t>14.31818 MHz divided by 3</a:t>
            </a:r>
            <a:r>
              <a:rPr lang="en-US" dirty="0">
                <a:solidFill>
                  <a:srgbClr val="000066"/>
                </a:solidFill>
                <a:latin typeface="Roboto"/>
                <a:cs typeface="Times New Roman" pitchFamily="18" charset="0"/>
              </a:rPr>
              <a:t>), is the </a:t>
            </a:r>
            <a:r>
              <a:rPr lang="en-US" dirty="0" smtClean="0">
                <a:solidFill>
                  <a:srgbClr val="000066"/>
                </a:solidFill>
                <a:latin typeface="Roboto"/>
                <a:cs typeface="Times New Roman" pitchFamily="18" charset="0"/>
              </a:rPr>
              <a:t>processor </a:t>
            </a:r>
            <a:r>
              <a:rPr lang="en-US" dirty="0">
                <a:solidFill>
                  <a:srgbClr val="000066"/>
                </a:solidFill>
                <a:latin typeface="Roboto"/>
                <a:cs typeface="Times New Roman" pitchFamily="18" charset="0"/>
              </a:rPr>
              <a:t>frequency on which all of the timing calculations of the memory and I/O cycle are based.</a:t>
            </a:r>
            <a:endParaRPr lang="en-PH" dirty="0">
              <a:solidFill>
                <a:srgbClr val="000066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26827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PCLK (Peripheral Clock)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5776454" y="1617406"/>
            <a:ext cx="2863636" cy="4500000"/>
            <a:chOff x="4572000" y="1447800"/>
            <a:chExt cx="4114800" cy="4648200"/>
          </a:xfrm>
        </p:grpSpPr>
        <p:pic>
          <p:nvPicPr>
            <p:cNvPr id="6" name="Picture 5" descr="pin dia 8284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447800"/>
              <a:ext cx="4114800" cy="46482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7" name="Oval 6"/>
            <p:cNvSpPr/>
            <p:nvPr/>
          </p:nvSpPr>
          <p:spPr>
            <a:xfrm>
              <a:off x="4800600" y="2058170"/>
              <a:ext cx="1449161" cy="53260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Rectangle 2"/>
          <p:cNvSpPr/>
          <p:nvPr/>
        </p:nvSpPr>
        <p:spPr>
          <a:xfrm>
            <a:off x="703005" y="1782369"/>
            <a:ext cx="4734233" cy="1785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65113" indent="-265113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  <a:latin typeface="Roboto"/>
              </a:rPr>
              <a:t>It is </a:t>
            </a:r>
            <a:r>
              <a:rPr lang="en-US" altLang="en-US" sz="2000" b="1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one sixth</a:t>
            </a:r>
            <a:r>
              <a:rPr lang="en-US" altLang="en-US" sz="2000" dirty="0">
                <a:solidFill>
                  <a:srgbClr val="000066"/>
                </a:solidFill>
                <a:latin typeface="Roboto"/>
              </a:rPr>
              <a:t> the crystal or EFI input frequency, and has a 50% duty cycle. </a:t>
            </a:r>
          </a:p>
          <a:p>
            <a:pPr marL="265113" indent="-265113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  <a:latin typeface="Roboto"/>
            </a:endParaRPr>
          </a:p>
          <a:p>
            <a:pPr marL="265113" indent="-265113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  <a:latin typeface="Roboto"/>
              </a:rPr>
              <a:t>It provides a clock signal to the 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Roboto"/>
              </a:rPr>
              <a:t>peripheral equipment in the system</a:t>
            </a:r>
            <a:r>
              <a:rPr lang="en-US" altLang="en-US" sz="2000" dirty="0">
                <a:solidFill>
                  <a:srgbClr val="000066"/>
                </a:solidFill>
                <a:latin typeface="Roboto"/>
              </a:rPr>
              <a:t>.</a:t>
            </a:r>
            <a:endParaRPr lang="en-PH" sz="2000" dirty="0">
              <a:solidFill>
                <a:srgbClr val="000066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61164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READY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grpSp>
        <p:nvGrpSpPr>
          <p:cNvPr id="3" name="Group 2"/>
          <p:cNvGrpSpPr>
            <a:grpSpLocks noChangeAspect="1"/>
          </p:cNvGrpSpPr>
          <p:nvPr/>
        </p:nvGrpSpPr>
        <p:grpSpPr bwMode="auto">
          <a:xfrm>
            <a:off x="5744496" y="1678862"/>
            <a:ext cx="2863636" cy="4500000"/>
            <a:chOff x="4572000" y="1447800"/>
            <a:chExt cx="4114800" cy="4648200"/>
          </a:xfrm>
        </p:grpSpPr>
        <p:pic>
          <p:nvPicPr>
            <p:cNvPr id="5" name="Picture 4" descr="pin dia 8284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447800"/>
              <a:ext cx="4114800" cy="46482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6" name="Oval 5"/>
            <p:cNvSpPr/>
            <p:nvPr/>
          </p:nvSpPr>
          <p:spPr>
            <a:xfrm>
              <a:off x="4725081" y="3430035"/>
              <a:ext cx="1447119" cy="53260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Rectangle 1"/>
          <p:cNvSpPr/>
          <p:nvPr/>
        </p:nvSpPr>
        <p:spPr>
          <a:xfrm>
            <a:off x="586409" y="1858959"/>
            <a:ext cx="4801669" cy="34778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65113" indent="-265113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This signal is connected to READY of the CPU.</a:t>
            </a:r>
          </a:p>
          <a:p>
            <a:pPr marL="265113" indent="-265113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  <a:latin typeface="Roboto"/>
              <a:cs typeface="Times New Roman" panose="02020603050405020304" pitchFamily="18" charset="0"/>
            </a:endParaRPr>
          </a:p>
          <a:p>
            <a:pPr marL="265113" indent="-265113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In the IBM PC, it is </a:t>
            </a:r>
            <a:r>
              <a:rPr lang="en-US" altLang="en-US" sz="2000" i="1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used to </a:t>
            </a:r>
            <a:r>
              <a:rPr lang="en-US" altLang="en-US" sz="2000" i="1" dirty="0" smtClean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signal </a:t>
            </a:r>
            <a:r>
              <a:rPr lang="en-US" altLang="en-US" sz="2000" i="1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the 8086/8088 µP to indicate if the CPU needs to insert a wait state</a:t>
            </a: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 due to the </a:t>
            </a:r>
            <a:r>
              <a:rPr lang="en-US" altLang="en-US" sz="2000" b="1" i="1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slowness of the devices</a:t>
            </a: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 that the CPU is trying to contact.</a:t>
            </a:r>
          </a:p>
          <a:p>
            <a:pPr marL="265113" indent="-265113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  <a:latin typeface="Roboto"/>
              <a:cs typeface="Times New Roman" panose="02020603050405020304" pitchFamily="18" charset="0"/>
            </a:endParaRPr>
          </a:p>
          <a:p>
            <a:pPr marL="265113" indent="-265113" algn="just"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At low logic, CPU is at wait state.</a:t>
            </a:r>
          </a:p>
        </p:txBody>
      </p:sp>
    </p:spTree>
    <p:extLst>
      <p:ext uri="{BB962C8B-B14F-4D97-AF65-F5344CB8AC3E}">
        <p14:creationId xmlns:p14="http://schemas.microsoft.com/office/powerpoint/2010/main" val="165092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Interfacing 8284A to 8086 Microprocessor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grpSp>
        <p:nvGrpSpPr>
          <p:cNvPr id="17" name="Group 16"/>
          <p:cNvGrpSpPr>
            <a:grpSpLocks noChangeAspect="1"/>
          </p:cNvGrpSpPr>
          <p:nvPr/>
        </p:nvGrpSpPr>
        <p:grpSpPr>
          <a:xfrm>
            <a:off x="2478659" y="1395205"/>
            <a:ext cx="4186679" cy="3240000"/>
            <a:chOff x="1543665" y="1435487"/>
            <a:chExt cx="5814831" cy="4500000"/>
          </a:xfrm>
        </p:grpSpPr>
        <p:sp>
          <p:nvSpPr>
            <p:cNvPr id="24" name="Right Arrow 23"/>
            <p:cNvSpPr/>
            <p:nvPr/>
          </p:nvSpPr>
          <p:spPr bwMode="auto">
            <a:xfrm>
              <a:off x="3159354" y="4691418"/>
              <a:ext cx="550000" cy="418796"/>
            </a:xfrm>
            <a:prstGeom prst="rightArrow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1543665" y="4528553"/>
              <a:ext cx="1621373" cy="72262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3698824" y="2388042"/>
              <a:ext cx="1445255" cy="289051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9" name="TextBox 5"/>
            <p:cNvSpPr txBox="1">
              <a:spLocks noChangeArrowheads="1"/>
            </p:cNvSpPr>
            <p:nvPr/>
          </p:nvSpPr>
          <p:spPr bwMode="auto">
            <a:xfrm>
              <a:off x="3806544" y="3540726"/>
              <a:ext cx="1248316" cy="470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1pPr>
              <a:lvl2pPr marL="742950" indent="-285750" eaLnBrk="0" hangingPunct="0"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2pPr>
              <a:lvl3pPr marL="1143000" indent="-228600" eaLnBrk="0" hangingPunct="0"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3pPr>
              <a:lvl4pPr marL="1600200" indent="-228600" eaLnBrk="0" hangingPunct="0"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4pPr>
              <a:lvl5pPr marL="2057400" indent="-228600" eaLnBrk="0" hangingPunct="0"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en-US" sz="2200" b="1" dirty="0">
                  <a:solidFill>
                    <a:srgbClr val="000066"/>
                  </a:solidFill>
                  <a:latin typeface="Roboto"/>
                </a:rPr>
                <a:t>8284A</a:t>
              </a: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5874919" y="1435487"/>
              <a:ext cx="1483577" cy="450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TextBox 6"/>
            <p:cNvSpPr txBox="1">
              <a:spLocks noChangeArrowheads="1"/>
            </p:cNvSpPr>
            <p:nvPr/>
          </p:nvSpPr>
          <p:spPr bwMode="auto">
            <a:xfrm>
              <a:off x="5948320" y="3294827"/>
              <a:ext cx="1322039" cy="940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1pPr>
              <a:lvl2pPr marL="742950" indent="-285750" eaLnBrk="0" hangingPunct="0"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2pPr>
              <a:lvl3pPr marL="1143000" indent="-228600" eaLnBrk="0" hangingPunct="0"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3pPr>
              <a:lvl4pPr marL="1600200" indent="-228600" eaLnBrk="0" hangingPunct="0"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4pPr>
              <a:lvl5pPr marL="2057400" indent="-228600" eaLnBrk="0" hangingPunct="0"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en-US" sz="2200" b="1" dirty="0" smtClean="0">
                  <a:solidFill>
                    <a:srgbClr val="000066"/>
                  </a:solidFill>
                  <a:latin typeface="Roboto"/>
                </a:rPr>
                <a:t>8086 µP</a:t>
              </a:r>
              <a:endParaRPr lang="en-US" altLang="en-US" sz="2200" b="1" dirty="0">
                <a:solidFill>
                  <a:srgbClr val="000066"/>
                </a:solidFill>
                <a:latin typeface="Roboto"/>
              </a:endParaRPr>
            </a:p>
          </p:txBody>
        </p:sp>
        <p:sp>
          <p:nvSpPr>
            <p:cNvPr id="23" name="TextBox 10"/>
            <p:cNvSpPr txBox="1">
              <a:spLocks noChangeArrowheads="1"/>
            </p:cNvSpPr>
            <p:nvPr/>
          </p:nvSpPr>
          <p:spPr bwMode="auto">
            <a:xfrm>
              <a:off x="1688266" y="4644862"/>
              <a:ext cx="1312689" cy="512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1pPr>
              <a:lvl2pPr marL="742950" indent="-285750" eaLnBrk="0" hangingPunct="0"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2pPr>
              <a:lvl3pPr marL="1143000" indent="-228600" eaLnBrk="0" hangingPunct="0"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3pPr>
              <a:lvl4pPr marL="1600200" indent="-228600" eaLnBrk="0" hangingPunct="0"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4pPr>
              <a:lvl5pPr marL="2057400" indent="-228600" eaLnBrk="0" hangingPunct="0"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3000">
                  <a:solidFill>
                    <a:schemeClr val="hlink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en-US" sz="1200" b="1" dirty="0">
                  <a:solidFill>
                    <a:srgbClr val="000066"/>
                  </a:solidFill>
                  <a:latin typeface="Roboto"/>
                </a:rPr>
                <a:t>RESET CIRCUIT</a:t>
              </a:r>
            </a:p>
          </p:txBody>
        </p:sp>
        <p:sp>
          <p:nvSpPr>
            <p:cNvPr id="25" name="Right Arrow 24"/>
            <p:cNvSpPr/>
            <p:nvPr/>
          </p:nvSpPr>
          <p:spPr bwMode="auto">
            <a:xfrm>
              <a:off x="5168713" y="3636218"/>
              <a:ext cx="700000" cy="417426"/>
            </a:xfrm>
            <a:prstGeom prst="rightArrow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t="1814"/>
          <a:stretch/>
        </p:blipFill>
        <p:spPr>
          <a:xfrm>
            <a:off x="2390666" y="4749763"/>
            <a:ext cx="4320000" cy="183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56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 descr="data:image/png;base64,iVBORw0KGgoAAAANSUhEUgAAAVcAAACTCAMAAAAN4ao8AAAAhFBMVEX///8AAACtra3o6OikpKRsbGxnZ2fKysqcnJzZ2dm8vLy4uLi/v7+Xl5cNDQ1/f3/k5OTv7++rq6t6enpycnLT09P39/dcXFzz8/OQkJDNzc3d3d2zs7PFxcWKiopaWlocHBxMTEwqKipFRUU+Pj46OjojIyM0NDRDQ0MWFhYLCwsnJyeY8ewkAAAaeUlEQVR4nO2diXqjvA6GBTZmH3AAs5vSpE3buf/7OzKQHQpJ0+XM3++ZabNQIC+KLVmyAfjVr371T4snJ0/LEn8U2fecy4+UHuW0BpnnIl9TqNPciAGqNIesyak/bBRGLQXJ6sOfxenpXlwgRLO/7rSX6fsudBWhnbl6ADmBuAZeAWgIFrFuOUC028ze4A/r6O9MdrYjIWGzhGtofVz6ss8m8ihftuX9palLmtE/XACQV5D4LGiRMuSKIuEDvo6rD0XuA5Eumisd3ghim1E3oHW6qVs98GYPaMvS/qDq4Hyn7ij+gLH0Dldxkfg51/4FUzPwgdmqZzk0oQ9+1waI+oTrYxbyra/Bc+gPXJ0YNgnxFFt4qYQ2z9Wf3WRO/IJrUBXmherUMJgceeP+Kozw7Ix6rmhmEkHxDksOocbAP/kKJT3XXKPhX/VXh3ZAM/M1WjetAtiU/Eu4kkuu5dh2VYr2+uGjLVJ0zpU/CqhCWQBzDlzBxQdtDWGVDRSyDYHahkLE8Mg20JjR62D59Rs0suNqb+zsR3HF3tj98MGW6YIr8FwSKBJpqocWMs197LsKfMfHs8p211vkEnslX2IznJfqv7PbQQFZCHkOlu1Xjp+c7/9cn8JVjnN1qw8fa6EuuX619lxNb1QO2W+q1WMb2GdcSZEkkZskSXFxrP8k1z8NG9Vm53QGT8bY28YZ1yS3LEoty5cXx/oZXEWjvsR9C5lsP+sMDlzPXZNB2d8ebPAw+nZ9zlW1TqgxT/VncIWnAhzoW6pyvgO6UQeuZGKLbNP4JFk/jr/rXHItyzAMx1rYb+RKRAkkhDLDzqdBt18QfCkE5YiWp1EgwS1ERgSU2HcJ9THwgSg5EPydlWpXBMrZdmaeK3Bz8/pGxfibI1yB+P7ocb+Pq635VuM0iZELjTdmIyut1Px1hM2Bs3o9BrvSKs00Hn175bYY0koJ1H8CWfgh1U1hRVWo5bKq47kzWMD1XY1xzUxztFFBrn4wo3yv2U2DCXcORuxVE+UGwxWawwNvkqBCoK+cbPGX5jjHJoOuKfURW/kAkq5klpSa54EWQKFRiHT8g78EjHZ2iOAzuE4Juf7x9dV70q39GSft+5uuqm09daRLrln5AoFLfXjIGjtykc8fjjEVck3IsRFgzGDlO676FsxSywrgcQzFsxkMXNGq5z7rV3Od6B0P+juANTez+2OLuZaa62vhNi1fqCZfZd1QLXnMt8LVSqI9HNsr16wNGPiSnlIAQ1tBhdHulpp1RAlsfZug3RqUwgzZr+Y6f5SnlY7RjdXM7y9dbq8jeh09lQWh/yL9PK4QNJqmXXq/l0rNqXcWcCXaaFDtabdxONf9uIqkhAzsBP/jjzAhCX6jywSd8CxB1wX9FGoRPOvScWb2CZy/NwJeei4ULI/BSLHviscclQVcBR9tkjifcHyu1N241pFdBkm9zqRImgoyS5DUAm4RcKPQjkugKqDTCG/ODaVc9kmI3g92dDvQIngO4xb32NzI9ZN1N65NqCICvQVbgJUSbqovdAk6iDV+8iIEygzDQHvNtGN7JZ6hTbpLe3Hb8g3D6y0sQ65USyW6O7jH9N/m6rXd5yNxrDqTQA3CgVunpAJ96IF2XMmBq9AjTfvzxoyZYTeXsTiOoqj3xrky+I1m/Se41u3w+WhbK99TjWbpEKEHXk1zTRztEfso6swd23YQ6o6+4voXLA3bAYMx5MopukB0Bf14qtK/w5U3iDMj+OFUTiDrxozQZtHEQhWcEPzgade+nnfEjvO8LG9c5EP3TzQVLtWPYKyH9rVuuDqY1e48kx1XV1+gywFNpXoVjp+Xq8/64HDH9pXntPJgVVWBSny2eQlVUIDHkIPUK1PZnOfV2G/ldH60/T11OwhVvu/gZxVN55fJnXe248p0x52R44/lhgRbgX02iEj607bbJV+Gr/RfYcoZv1FHcUHQwQkuuC6oWCjoyIuu2pMdemVBvJo4JXfsJKI8dOqfyfXGo4zrwFXItusuL7hOfGVDs9iLyuTwxBy+SsOe0qAhVZrp0NhJ2CbwAq1e/kSuaK92/eGyFwK8rmtgtMQQBJ+HNZjYxC7nWvsHWdbRE38w3qjfE8OnwqAOyDQk2E+UZvrjuDoyz3ON1+3rxBD5jMIhLgDjqYJtmmrceEnTFP0Qnutg5z64vj90iXNcZ1Uy7M0cUGMv4KBDw2WOXLFzTvXwh3FdGXEca6QEeTK0IcgCp4gnvooLulMUNToUXOX/jc7PGts+Gj7MzVzRd9N1UQa58h7RbfZpCBYVle/5NFiSrf9arpEa1TAOuS+RRY2mmXMx+RAXBH19WhcXQGL2XJk/IkP2v5txriJ7R2fb8ry+xX35eq6htj/1GqH+eXh91ebqyGwvCk7igq7qr7dX86jbGZTEzvDi+AWzUkMNVqTD//2DLiV9tq0IbsoefT3XSMBhfK/yHt4WjA8o7eOCfoABOxaMC7B9Hds2ev/D0EQl/jIVEKhLpFyJBC2b2MpxXXQys/o6rn28xX0MXE/fcK9rBHmgpQlQNHqW1543Oug402TTHN8n6jKpEtMKjdokakwTsa4GrkVVVSGQpksMVYFbXVlZ9o/EBWea42r2WIX6iqv/O6yZN9hrmGZgv4DZQpjASqoc83Xn9m/EBeea4WrVPVZl66dYIeu5dp5w65AmKEE0k8eZ1v8111vzMJaphoeF6i13WEOFtd63r11c0KqxnMYU7Y/mGia2XWK/xZ6OAvJlXdaw7eBHhDXambAiYTAZBNEN4690VQxYHXGKFaqea4I+K38B9CeCGJgagrwSz9dxDTQl7obG8+HF1HcXHZfYvs/6YVreop8lnhPlZynfaGzzOa76gNU7wtq/sJtp4Jtk5UJdkSCBLHLD4soR3a/jKt8eHh6U/7rd+a+eZWEIxnx9bsCgkkw5aUNcoPIwvsbI4L8SfiER2Vn/aHx/ltnVxHf+3t7BUi/UBz8rTPCsuEp5qo2Sa+l8PVdP25kYtgzINYi80QHk4++37QWncYFmUU308dZ7asfBWgGNqGXlObXUg+5/jC9In/r/d/7rjmtX6bRTOlJ+vNv+7Pk+Lui4+olG4lvHB8q6Nmv83/04/o8/Js/nOn11+5ptJWhL2qp8svCEY7yVrusHMDZp06jxLB1deH0FvNo5CB8ez0IwiL+qEs+tEEzl6jo+SNxq6VjB13GtLUqpRkS+wMOuHzQ6VZ/FpZUXoKZe7P0spxEYOZGI7ur8PsxVb7Etlx46WlLtc43RchAoj3bpDn5gvIWBqlHPz+g7jgtq1n0MspTrqjkoZUdPml1hax5BmapB2MqPoVLZZtlzNWtzic3+vLggUc1vuMQwjuKtqAvf691E1zmu4kiedfJ02AK5mlSuS6h4U3gd17jSGwdotV6SP/4Oe53pGrjlAXmXK+4kKUxg1B6m3QjZFSzs3dZr2oF6dEQl7y5RYYEumG4f2WtmjOUZL/TV41l4FOuoRxrvwUoronCOhFS7L/m6Aq9pIjC6nhAtjNfgMAGeR4YWd891QemXOcXVdQU42G67DdTYvnZcPQhY9rPyBVL78+dV1WU8HXFNqTceFNQn/kBmW5Zh9JsKB/2s3FjBnisPVmBHeRhE8RAX77nKfFbRGFdHSpfHuQMO/ndLP9ArGfAi8qvAp0uGtr7cfyXmPr9V05WKt2g1alXG4aEbY7wVRVH/Uue/PmJ0sbfXC+24Yjsxr0+pOfpqrhnLX7ShQy2LBLlGsTvS4J4OIWWJF0ds2KzPw9RvYTzL9fv01Vy5t2qOEi+NeTEGl/gqod/6FzPr6uEMVR4Gg7Gk/OWq1MdbeJTo/RJ+O91iqN5YU2trcKmxstFyF1iEkcZoY7eI66fOJvuBcQGUtFsdYFYfml8ANrvnGPvF3n9cXIAS1FvS535sPkz5gcGDef1IrujXfvp8GMjjwcEXeSBJLl0gdEn0vExfx5WXYajmw0TrzfsBtlBvl5fB4q4UhRTq47sSjA0G9Otb+60gVh8dfYzEszPIUlsVZN1NX8c13242G42U0jlLahF5yrB9zLGT256uHsVDK+r9LL7u/CzNGPFfu9wByZZwLdEhJl3aIGcRdmE06Fdzu5NmuXannU02Rcu5Wuu2bTXszY/nvGV1wDStPmZj2WCyLbpgR+ew8hl6unkfGak8DOiv8SXXUE1hMJi+hGuCjrNdVX5ll6UfE+DMvl8rsICrgoaO4hS7q7kWHtP27UCuqQKtB+31eDs1g0AtXnN4yawQQhwPMwFUXCDh75i97rSAqx9Hht6nubA1wDNi8/P1rtAs16QAV60lNVFHcy1XdZTksK+wQvvVTtpby+Oaj5/4tEpW1F56FG8poB+Lt8xKFkVXmsFWouCqCG/Rx1io+fY17wqYphzK5Vz9p/V6rWVPMT8bGBbW6aGZVoH3MJ2s4V3d2+sH7RXs3dXlTtX1iHdsXZdwLVpVxeBO5CmXczUxONI1kkn5sfUoufQlnpBVHfysOmJVoKvhwlLqTr7Qf52rZLNzw43l2WVbGiAv8AcEtoJ/p/z0z8jDOMqe8/le5BAXUDyLAhLC07Irr57gGp9odnzaYxhUn54wXxr8LvKz3pleff+4gGtpbCWwYK26A1eL2ZUK+K0hETPBlR0VaotitvISuXpxBqHlgltV2HDUYZwvTMguaF//hlA/TTXqN+Vh3oVLVeouqN9bkAJ7GdtWs95IGHYELUYq1QflM1yPn9jzXA2aC8hip0lYJbjhpCVb6jPMctXzMjc1rx6tf7iqXhudy1itPxAfrSKaX04toJ17WzrnXLk7tMuyrcDZoBe8mw/TtQMcag6WuibZ3bgyiF3gqUeEyRzCaiLux1UqR9y8gz+g8jB/sN86TI8VmWBGQMkpWt50UE6WDBMltQyjDx9EhXso4bEY5nOr1yxD9CXtli9UodUSrsXc0I6o0qyOQ7ByURb6CnwrC2N9Yae7hGuqvM6JgZCrx7X9bbprU2ifXGHRWRfldfyO3J4hDxP3XLp8QbMVPVeGboaBZruigXI4orbVKU3nuYZzk/MhLBITbDODwoQu7Yv+Lr9bvUuyadaQ5tEEvKvzMLi3o/osFhu1edYUlOjbiNOF+DLTNWJ2PB+Ga8+i5+rVIxrvaI+4hunC1av7U9p/x9zxZNyF5vutrh1yps7iaq7tCdeRlHH5hD3XW2xdTHTZrVKg4oIcEoy31lP1ryMK2zSN0K53xGsj6q4Tfi1MV0BVOzZxpqaQqFis97CK0XUkLrXAzyIrXZ8cQb46DyP+jJcA7qWWL3iT0xmDLNeMcL2mLjCJ7s81Znc6vbuIVlxiR2RbRDV2HvCzQlyiKgxJXYS1WRA9SCD0eMHCegnZea6q2Dww3iZc2Bv815nTQq66GneZzMQItQdV8DM9rj2x59g4skfhRQQE8yCgnJXATPu87UyJTWUWuKHtpRD46MkAelzF6Fqh55rlavX2H0583+4fF5gx1UJp1k+zW07nYUZVGtFRjBUGvjoX5Br1XK30/NyCOCsRo3SgZiAtoBGIgqnFoOc17w8M5jWxguQn5GGqtgQul6z3dpW9lt3KO7s4NEx7OgNXG+3VM87+Igt0CKyMmYDee2AJ/KyiSO/ElW8tDGqKzURgfEUeBnfDNZK0TXPDQOfR2XEb7bRp0MQMP8+XJMI65YprtE/CEimVM4ZcPcqjbrFDedZWW5RDYqvhPCtPbL+EyiponqzyBQnH+faV5w9/n5spd/jq+TCySI5aOT9buLzaOpVD0oJv0M9qkzc2zIfBHWT++X0h/ItPQ9WU8Dg24l1HIaq4hiqw7G7akR5YZRWs7pai/Yb5BYceSaDJySXL+8hg+6YWLezcsj5ie44P62eJ4qLo6rybzZLETowS39ldSDobGHxE81w3qmxHmxpmvoEr333daMpUk8fi2SHByn35o6y9UmFPFxeEGn9nXbIJHcUFFfvce9XM91sl9oNvAKPz0Se4ipXluE5tBIUaHU5d0OPiwPW4RTTimLlL7Gb9vPdUO65q7dePcCVs4apd8rbVaGa55uqLx0/SeMca5ZpjJ2dX2NF2W7A+qlaJrDfkKo7Hkxvn+uSBirfCprKy/XiW8NQsIeD4y6vVrRjIbBwLxYJvGS8idmOSdt5eSaZF6NBcMU4Ysr7RGLgaq87S1Lo5PnLlH7wtGJdS2oEMVkf+K0/rklVQpjZEYKZitWA8i86NExKqZu3duGzpkvZ1Bf7T68SkgDGu5RFXglvY8X5s6pPWHxCsULODQ0ZqNTkmzMYPc9X4a6GG0G6ujZvnKhQkPvXu6Dr7hroIpONaqXbg4El/1rpkzHWsDEKjK9uk8Wr8D64b19ZVyfOt5/YpflYpC2JmJPaJLQVNSWbQwZlCeyX2hxPKqvXEHbKKE9Kv/cScqO4aIFONHiQTc1au47oyomhmk2l9kv9q2xzssrTtkODPrCxLqCmlK437a/vKuH5QtpuenKcV6IYKkdp48AcES+wmw04+BAoOV8H8mK7hyv2IzDuAk/q6uEBXcwm0jGlhcPY1XdA1hCvKjP5yZCv0szxV2MSaYS6HqAJKnNzRA92NoKidcXM1jeMD02Dy8pY+rSJX9FOdaprf8AX7Sq5RFKA/8HJW6xX6D3NzqF2jz8P0Pknnv+65xnpVVa7jVt2io/ivUo+qEaGNG4c3LOzrRzfDv0cLMHamSjD+tfa7WEz4HlzTRcLWSnEVq/Zo3obV1VgFcyUSvK6YcbIu2YHraB5mTBL7IX//zFCXZHxDC6+hsTtHqZ7s31pcw3UHrgtVdfaabeyjPEyublXw9jY6Ne1C7uCUdvVZPVc1/Wv5uUqWHq4ox1ZpqgHCNifaD88EjB1iovdTHUf6Oq59/QDPJT256GUeaVetpZBZWhxW2tq8Pg9zovn6gRH9QK7dZGk8yuWiK1dG4DzjgqsFGq/Nw5zqX+H6kaOM6zZ/badfrlP6tVcloRZgeiPgG7d420eNR1ainUZBCIxJqWavC9LFXd0vrmJu9DzVYyFI92t8jydchVrsXV8NDFxKXWt06OYHcqVNmjLst57K835qyZDRGjvlfju+Vetn5UULxna9Xm8RdPVM8wczo8+6t4Hk1QyIzV4SSR1n9bxyL7JpQq00Q/1opX51zpuQzARPD3fjGIEFycWosOofUjgsqfGuvpBrd7+Nro7oJN4K86mxsoPyvMvD+J2lZ906T4VG4m3btmt8kT8W8EjBfiR2CKtHSEKQDWAMDeVjebkCnjhaDd7crVSA7kUVMrtySt1Grpc3hQhTA0MJjBgmir9O9dVc+Uorj+qIfGNRXKDrm1e14Uq1qPyUq5RAHpPyTwnJ1sdWIXxQhVyypSqDbD8ui5AEcjWQK6cxpC4EcrRuUIUgCxuxr+ZKoD5aLyNPu7hglqvKw9CdlZ9yfamR6zZ4QGcteSTdjuSzp+xVbX8NV7TXlKwidWv0gIoRHMJ1PMe9W33Wu7qC67C+S3J6M8ur44Iu3qJ50YDx/PT09OhJbAfs1YOCqIazEG0TKa7qUTnGNUsNpkYc1M+hUFigb1Gr9pVGXHGd8BXI+6XmR/o6rv18GK7nFxf8ulQHl4FMQAZElaphL2JKqJ59wqSJ/ZbzArQyWYb9ViEpcPpMR9LoXYiS+LBf10lUK72ESueQ0XKlVncbd40T+oXrvV2jT8jDIFeiXCtCej8LvSv0s3jnYInunXHd5L8u1v91XNBzvaI87Fj/Ftd7rqXAfrnu9IfFd1Ok/XLdyZu7zdhV6k75l+vn6Faus/NjP6T/JteVGqtgKjt0//Pp9d/k+vn6r3Kt1d3AjA+Wir2j/ypXkWGs9eEbAk7rv8oVwJcTVVx30X+Xaxj+8HX0vlk/ot/qisSOfv5yvYc8WTt+6KeeygmllJDGS3yw1IBzrP1yvVVdSX3e3TMb1Ppmaooy2iuN+8qpm/b5yxXA6GtunIErVb8xSl7dg2vpeq5jQuJ6lbrXh+OGUHlO5XK7cvClG6v0l+j7ucYHrpngrFCOhs266Y0ft1fngdDHBOiDKAOQrcq0rwOwCrxuD8K765pfp/p+rt2dWUjH1SYZs+00U4StftDtg1zNx4w/mKA/qtYlaNW9rdqc2Ng7VrfdN3qpvp8rWDS07YymZSjDInXB6gI5R00opR/lWm8Ldd30JzV1IoxbtQYL65Z2+/e5AilDIGFYlmFWhmWGj/ZvfdTPqrd6i3tDe3UFZGA91p29iv8E13d0K9fdugTmX8jVKih/1dRENNkHB7mCjc1Btxzn5+kf5dpSNS0d7KD1eRzQoKWBBEvHl2hjrJoEiqi1PtEd+Ee5eqr2bD11D7Kv0JKJrt+oW7k+tUqV/m2S/zLXruTxm9SXpiRU7x9RmpwNV6uircpCh7KyypWVAVGzM3Whbr3Vf2iOf0tHasRKdftetXBQad18O8kPcV3fetQ7isagJtw1NSQn0y+Fun9SbYUMOD545KBbUQq5lqE3KF76bdRiiJcLxZgtvmaU1IFHSG8tfLi5fX1CbW886D2lB1A+glRm180WdjzPc7oOE6E9cEgTfEDxBexiPXwxU6/Iqg55LcgDHMy1VH/Z2edKQtKAeNAtdYu/xK7BJZA5+J6jFuRelMW51R9gGRkm/36zdGbnCUT7dZPCcFgcVnHVODQmaEz566RUM8GQa4tc9VyCVhLN77peYQogmfrD7hNRCUULmUYt8GJLS+IYTT4IKcgVXiL7eUl0fmOFT/3t41k76YZqBPcLZAl1q7h+EZGBq1qqd6s+ZZfXQq4vyHWlS3gM0V67pIzlsSpP1F3kuqc7rhZyZeEGAh130T7ZXMOASoNwifv4p5m5J/O4Nj+GayWhtcFWTf3ZjALkmpcQC3yQrXdfLU1A5UCUIbuHhA83UEA7ro/sC9sBEUMoeQArs0SuFe6Cu2uhmTo8WIvuNGd6t+nzUsXXqUhbBxoKZZufFrJgvyUha2IdgjcJ0VNv0PI1wAYWQxjS0icrGF2X3VS7rIyWQ5wz8P+WLbO1mvk12FqMze7orWl+9atf/epXv/rVr371q1/96le/+tH6HwLBHNF/MkZX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1814"/>
          <a:stretch/>
        </p:blipFill>
        <p:spPr>
          <a:xfrm>
            <a:off x="2027530" y="2408582"/>
            <a:ext cx="5088939" cy="21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Interfacing 8284A to 8086 Microprocessor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42633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09603"/>
            <a:ext cx="91440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 smtClean="0">
                <a:solidFill>
                  <a:srgbClr val="000066"/>
                </a:solidFill>
                <a:latin typeface="Roboto"/>
              </a:rPr>
              <a:t>Reset Logic Circuit</a:t>
            </a:r>
            <a:endParaRPr lang="en-PH" sz="2800" b="1" dirty="0">
              <a:solidFill>
                <a:srgbClr val="000066"/>
              </a:solidFill>
              <a:latin typeface="Roboto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8138" y="1632814"/>
            <a:ext cx="8127724" cy="45122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265113" indent="-265113" algn="just">
              <a:lnSpc>
                <a:spcPct val="12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Initially the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capacitor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 is uncharged.</a:t>
            </a:r>
          </a:p>
          <a:p>
            <a:pPr marL="265113" indent="-265113" algn="just">
              <a:lnSpc>
                <a:spcPct val="12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When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power is switched on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, the RES signal is at logic 0 (RESET signal is at logic 1).</a:t>
            </a:r>
          </a:p>
          <a:p>
            <a:pPr marL="265113" indent="-265113" algn="just">
              <a:lnSpc>
                <a:spcPct val="12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The capacitor starts charging with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time constant 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(</a:t>
            </a:r>
            <a:r>
              <a:rPr lang="en-US" altLang="en-US" b="1" dirty="0" smtClean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RC</a:t>
            </a:r>
            <a:r>
              <a:rPr lang="en-US" altLang="en-US" dirty="0" smtClean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 = 10K</a:t>
            </a:r>
            <a:r>
              <a:rPr lang="el-GR" altLang="en-US" dirty="0" smtClean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dirty="0" smtClean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x </a:t>
            </a:r>
            <a:r>
              <a:rPr lang="en-US" altLang="en-US" dirty="0" smtClean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10µF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).</a:t>
            </a:r>
          </a:p>
          <a:p>
            <a:pPr marL="265113" indent="-265113" algn="just">
              <a:lnSpc>
                <a:spcPct val="12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When the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voltage across the capacitor becomes equal to the minimum High voltage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 of the 8284 (2V), the RES signal goes to logic 1 (RESET signal goes to logic 0).</a:t>
            </a:r>
          </a:p>
          <a:p>
            <a:pPr marL="265113" indent="-265113" algn="just">
              <a:lnSpc>
                <a:spcPct val="12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If the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Reset button is pressed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, the capacitor is discharged through the switch.</a:t>
            </a:r>
          </a:p>
          <a:p>
            <a:pPr marL="265113" indent="-265113" algn="just">
              <a:lnSpc>
                <a:spcPct val="12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When </a:t>
            </a:r>
            <a:r>
              <a:rPr lang="en-US" altLang="en-US" dirty="0" smtClean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the </a:t>
            </a:r>
            <a:r>
              <a:rPr lang="en-US" altLang="en-US" dirty="0" smtClean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Reset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button is released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, the capacitor starts charging as before.</a:t>
            </a:r>
          </a:p>
          <a:p>
            <a:pPr marL="265113" indent="-265113" algn="just">
              <a:lnSpc>
                <a:spcPct val="12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The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diode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 is </a:t>
            </a:r>
            <a:r>
              <a:rPr lang="en-US" altLang="en-US" b="1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used to short circuit the resistor during switch off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, thus,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Roboto"/>
                <a:cs typeface="Times New Roman" panose="02020603050405020304" pitchFamily="18" charset="0"/>
              </a:rPr>
              <a:t>discharge the capacitor fast</a:t>
            </a:r>
            <a:r>
              <a:rPr lang="en-US" altLang="en-US" dirty="0">
                <a:solidFill>
                  <a:srgbClr val="000066"/>
                </a:solidFill>
                <a:latin typeface="Roboto"/>
                <a:cs typeface="Times New Roman" panose="02020603050405020304" pitchFamily="18" charset="0"/>
              </a:rPr>
              <a:t>.</a:t>
            </a:r>
            <a:endParaRPr lang="en-US" altLang="en-US" b="1" dirty="0">
              <a:solidFill>
                <a:srgbClr val="000066"/>
              </a:solidFill>
              <a:latin typeface="Roboto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036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935657" y="2734692"/>
            <a:ext cx="7776000" cy="567647"/>
          </a:xfrm>
        </p:spPr>
        <p:txBody>
          <a:bodyPr>
            <a:noAutofit/>
          </a:bodyPr>
          <a:lstStyle/>
          <a:p>
            <a:r>
              <a:rPr lang="en-US" sz="3200" dirty="0" smtClean="0"/>
              <a:t>End of Lecture</a:t>
            </a:r>
            <a:endParaRPr lang="en-PH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18308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Cp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DCpE Template</Template>
  <TotalTime>9191</TotalTime>
  <Words>2067</Words>
  <Application>Microsoft Office PowerPoint</Application>
  <PresentationFormat>On-screen Show (4:3)</PresentationFormat>
  <Paragraphs>233</Paragraphs>
  <Slides>33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Century Gothic</vt:lpstr>
      <vt:lpstr>Courier New</vt:lpstr>
      <vt:lpstr>Roboto</vt:lpstr>
      <vt:lpstr>Roboto Light</vt:lpstr>
      <vt:lpstr>Roboto Medium</vt:lpstr>
      <vt:lpstr>Times New Roman</vt:lpstr>
      <vt:lpstr>Wingdings</vt:lpstr>
      <vt:lpstr>DCpE Theme</vt:lpstr>
      <vt:lpstr>8284A Clock Generator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of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Response</dc:title>
  <dc:creator>James Michael Cañete</dc:creator>
  <cp:lastModifiedBy>Blazzie2022</cp:lastModifiedBy>
  <cp:revision>386</cp:revision>
  <dcterms:created xsi:type="dcterms:W3CDTF">2018-01-29T01:11:00Z</dcterms:created>
  <dcterms:modified xsi:type="dcterms:W3CDTF">2025-09-30T07:47:24Z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18D7B6C29A0E4A45B36CC2556897ECBC</vt:lpwstr>
  </property>
  <property fmtid="{D5CDD505-2E9C-101B-9397-08002B2CF9AE}" pid="3" name="KSOProductBuildVer">
    <vt:lpwstr>1033-11.2.0.11380</vt:lpwstr>
  </property>
</Properties>
</file>